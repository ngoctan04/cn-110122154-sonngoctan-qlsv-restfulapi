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80" r:id="rId5"/>
    <p:sldId id="281" r:id="rId6"/>
    <p:sldId id="282" r:id="rId7"/>
    <p:sldId id="279" r:id="rId8"/>
    <p:sldId id="260" r:id="rId9"/>
    <p:sldId id="261" r:id="rId10"/>
    <p:sldId id="262" r:id="rId11"/>
    <p:sldId id="263" r:id="rId12"/>
    <p:sldId id="264" r:id="rId13"/>
    <p:sldId id="265" r:id="rId14"/>
    <p:sldId id="266" r:id="rId15"/>
    <p:sldId id="267" r:id="rId16"/>
    <p:sldId id="283" r:id="rId17"/>
    <p:sldId id="284" r:id="rId18"/>
    <p:sldId id="285" r:id="rId19"/>
  </p:sldIdLst>
  <p:sldSz cx="18288000" cy="10287000"/>
  <p:notesSz cx="6858000" cy="9144000"/>
  <p:embeddedFontLst>
    <p:embeddedFont>
      <p:font typeface="DM Sans" pitchFamily="2" charset="0"/>
      <p:regular r:id="rId20"/>
      <p:bold r:id="rId21"/>
    </p:embeddedFont>
    <p:embeddedFont>
      <p:font typeface="DM Sans Bold" charset="0"/>
      <p:regular r:id="rId22"/>
    </p:embeddedFont>
    <p:embeddedFont>
      <p:font typeface="Libre Baskerville" panose="02000000000000000000" pitchFamily="2" charset="0"/>
      <p:regular r:id="rId23"/>
      <p:bold r:id="rId24"/>
      <p:italic r:id="rId25"/>
    </p:embeddedFont>
    <p:embeddedFont>
      <p:font typeface="Libre Baskerville Bold" panose="02000000000000000000" charset="0"/>
      <p:regular r:id="rId26"/>
    </p:embeddedFont>
    <p:embeddedFont>
      <p:font typeface="Libre Baskerville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B49CE35-6565-4F34-B9EC-6212CC813041}">
          <p14:sldIdLst>
            <p14:sldId id="256"/>
            <p14:sldId id="257"/>
            <p14:sldId id="258"/>
            <p14:sldId id="280"/>
            <p14:sldId id="281"/>
            <p14:sldId id="282"/>
            <p14:sldId id="279"/>
            <p14:sldId id="260"/>
            <p14:sldId id="261"/>
            <p14:sldId id="262"/>
            <p14:sldId id="263"/>
            <p14:sldId id="264"/>
            <p14:sldId id="265"/>
            <p14:sldId id="266"/>
            <p14:sldId id="267"/>
            <p14:sldId id="283"/>
            <p14:sldId id="284"/>
            <p14:sldId id="28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30DC81-6EDA-43E1-B7BF-A312D22AE1E0}" v="10" dt="2025-12-28T09:24:38.0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8" d="100"/>
          <a:sy n="48" d="100"/>
        </p:scale>
        <p:origin x="91" y="24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F4ED"/>
        </a:solidFill>
        <a:effectLst/>
      </p:bgPr>
    </p:bg>
    <p:spTree>
      <p:nvGrpSpPr>
        <p:cNvPr id="1" name=""/>
        <p:cNvGrpSpPr/>
        <p:nvPr/>
      </p:nvGrpSpPr>
      <p:grpSpPr>
        <a:xfrm>
          <a:off x="0" y="0"/>
          <a:ext cx="0" cy="0"/>
          <a:chOff x="0" y="0"/>
          <a:chExt cx="0" cy="0"/>
        </a:xfrm>
      </p:grpSpPr>
      <p:grpSp>
        <p:nvGrpSpPr>
          <p:cNvPr id="2" name="Group 2"/>
          <p:cNvGrpSpPr/>
          <p:nvPr/>
        </p:nvGrpSpPr>
        <p:grpSpPr>
          <a:xfrm>
            <a:off x="12538274" y="0"/>
            <a:ext cx="5766018" cy="10287000"/>
            <a:chOff x="0" y="0"/>
            <a:chExt cx="1518622" cy="2709333"/>
          </a:xfrm>
        </p:grpSpPr>
        <p:sp>
          <p:nvSpPr>
            <p:cNvPr id="3" name="Freeform 3"/>
            <p:cNvSpPr/>
            <p:nvPr/>
          </p:nvSpPr>
          <p:spPr>
            <a:xfrm>
              <a:off x="0" y="0"/>
              <a:ext cx="1518622" cy="2709333"/>
            </a:xfrm>
            <a:custGeom>
              <a:avLst/>
              <a:gdLst/>
              <a:ahLst/>
              <a:cxnLst/>
              <a:rect l="l" t="t" r="r" b="b"/>
              <a:pathLst>
                <a:path w="1518622" h="2709333">
                  <a:moveTo>
                    <a:pt x="0" y="0"/>
                  </a:moveTo>
                  <a:lnTo>
                    <a:pt x="1518622" y="0"/>
                  </a:lnTo>
                  <a:lnTo>
                    <a:pt x="1518622" y="2709333"/>
                  </a:lnTo>
                  <a:lnTo>
                    <a:pt x="0" y="2709333"/>
                  </a:lnTo>
                  <a:close/>
                </a:path>
              </a:pathLst>
            </a:custGeom>
            <a:solidFill>
              <a:srgbClr val="134074"/>
            </a:solidFill>
          </p:spPr>
          <p:txBody>
            <a:bodyPr/>
            <a:lstStyle/>
            <a:p>
              <a:endParaRPr lang="en-US"/>
            </a:p>
          </p:txBody>
        </p:sp>
        <p:sp>
          <p:nvSpPr>
            <p:cNvPr id="4" name="TextBox 4"/>
            <p:cNvSpPr txBox="1"/>
            <p:nvPr/>
          </p:nvSpPr>
          <p:spPr>
            <a:xfrm>
              <a:off x="0" y="-38100"/>
              <a:ext cx="1518622" cy="2747433"/>
            </a:xfrm>
            <a:prstGeom prst="rect">
              <a:avLst/>
            </a:prstGeom>
          </p:spPr>
          <p:txBody>
            <a:bodyPr lIns="50800" tIns="50800" rIns="50800" bIns="50800" rtlCol="0" anchor="ctr"/>
            <a:lstStyle/>
            <a:p>
              <a:pPr algn="ctr">
                <a:lnSpc>
                  <a:spcPts val="2659"/>
                </a:lnSpc>
              </a:pPr>
              <a:endParaRPr/>
            </a:p>
          </p:txBody>
        </p:sp>
      </p:grpSp>
      <p:sp>
        <p:nvSpPr>
          <p:cNvPr id="5" name="AutoShape 5"/>
          <p:cNvSpPr/>
          <p:nvPr/>
        </p:nvSpPr>
        <p:spPr>
          <a:xfrm>
            <a:off x="1314450" y="4363157"/>
            <a:ext cx="11207532" cy="0"/>
          </a:xfrm>
          <a:prstGeom prst="line">
            <a:avLst/>
          </a:prstGeom>
          <a:ln w="38100" cap="flat">
            <a:solidFill>
              <a:srgbClr val="134074"/>
            </a:solidFill>
            <a:prstDash val="solid"/>
            <a:headEnd type="none" w="sm" len="sm"/>
            <a:tailEnd type="none" w="sm" len="sm"/>
          </a:ln>
        </p:spPr>
        <p:txBody>
          <a:bodyPr/>
          <a:lstStyle/>
          <a:p>
            <a:endParaRPr lang="en-US"/>
          </a:p>
        </p:txBody>
      </p:sp>
      <p:sp>
        <p:nvSpPr>
          <p:cNvPr id="7" name="TextBox 7"/>
          <p:cNvSpPr txBox="1"/>
          <p:nvPr/>
        </p:nvSpPr>
        <p:spPr>
          <a:xfrm>
            <a:off x="1314450" y="621964"/>
            <a:ext cx="13848730" cy="3318827"/>
          </a:xfrm>
          <a:prstGeom prst="rect">
            <a:avLst/>
          </a:prstGeom>
        </p:spPr>
        <p:txBody>
          <a:bodyPr lIns="0" tIns="0" rIns="0" bIns="0" rtlCol="0" anchor="t">
            <a:spAutoFit/>
          </a:bodyPr>
          <a:lstStyle/>
          <a:p>
            <a:pPr algn="l">
              <a:lnSpc>
                <a:spcPts val="8805"/>
              </a:lnSpc>
            </a:pPr>
            <a:r>
              <a:rPr lang="en-US" sz="6289" b="1">
                <a:solidFill>
                  <a:srgbClr val="134074"/>
                </a:solidFill>
                <a:latin typeface="DM Sans Bold"/>
                <a:ea typeface="DM Sans Bold"/>
                <a:cs typeface="DM Sans Bold"/>
                <a:sym typeface="DM Sans Bold"/>
              </a:rPr>
              <a:t>Tìm hiểu về API và RESTful Architecture </a:t>
            </a:r>
          </a:p>
          <a:p>
            <a:pPr algn="l">
              <a:lnSpc>
                <a:spcPts val="8805"/>
              </a:lnSpc>
            </a:pPr>
            <a:endParaRPr lang="en-US" sz="6289" b="1">
              <a:solidFill>
                <a:srgbClr val="134074"/>
              </a:solidFill>
              <a:latin typeface="DM Sans Bold"/>
              <a:ea typeface="DM Sans Bold"/>
              <a:cs typeface="DM Sans Bold"/>
              <a:sym typeface="DM Sans Bold"/>
            </a:endParaRPr>
          </a:p>
        </p:txBody>
      </p:sp>
      <p:sp>
        <p:nvSpPr>
          <p:cNvPr id="8" name="TextBox 8"/>
          <p:cNvSpPr txBox="1"/>
          <p:nvPr/>
        </p:nvSpPr>
        <p:spPr>
          <a:xfrm>
            <a:off x="6940565" y="6464878"/>
            <a:ext cx="6230943" cy="913764"/>
          </a:xfrm>
          <a:prstGeom prst="rect">
            <a:avLst/>
          </a:prstGeom>
        </p:spPr>
        <p:txBody>
          <a:bodyPr lIns="0" tIns="0" rIns="0" bIns="0" rtlCol="0" anchor="t">
            <a:spAutoFit/>
          </a:bodyPr>
          <a:lstStyle/>
          <a:p>
            <a:pPr algn="l">
              <a:lnSpc>
                <a:spcPts val="3780"/>
              </a:lnSpc>
            </a:pPr>
            <a:r>
              <a:rPr lang="en-US" sz="2700" b="1">
                <a:solidFill>
                  <a:srgbClr val="134074"/>
                </a:solidFill>
                <a:latin typeface="DM Sans Bold"/>
                <a:ea typeface="DM Sans Bold"/>
                <a:cs typeface="DM Sans Bold"/>
                <a:sym typeface="DM Sans Bold"/>
              </a:rPr>
              <a:t>Họ và tên:</a:t>
            </a:r>
          </a:p>
          <a:p>
            <a:pPr algn="l">
              <a:lnSpc>
                <a:spcPts val="3640"/>
              </a:lnSpc>
            </a:pPr>
            <a:r>
              <a:rPr lang="en-US" sz="2600">
                <a:solidFill>
                  <a:srgbClr val="134074"/>
                </a:solidFill>
                <a:latin typeface="DM Sans"/>
                <a:ea typeface="DM Sans"/>
                <a:cs typeface="DM Sans"/>
                <a:sym typeface="DM Sans"/>
              </a:rPr>
              <a:t>Sơn Ngọc Tân - 110122154</a:t>
            </a:r>
          </a:p>
        </p:txBody>
      </p:sp>
      <p:sp>
        <p:nvSpPr>
          <p:cNvPr id="9" name="TextBox 9"/>
          <p:cNvSpPr txBox="1"/>
          <p:nvPr/>
        </p:nvSpPr>
        <p:spPr>
          <a:xfrm>
            <a:off x="14400945" y="7321492"/>
            <a:ext cx="3327732" cy="1471929"/>
          </a:xfrm>
          <a:prstGeom prst="rect">
            <a:avLst/>
          </a:prstGeom>
        </p:spPr>
        <p:txBody>
          <a:bodyPr lIns="0" tIns="0" rIns="0" bIns="0" rtlCol="0" anchor="t">
            <a:spAutoFit/>
          </a:bodyPr>
          <a:lstStyle/>
          <a:p>
            <a:pPr algn="r">
              <a:lnSpc>
                <a:spcPts val="3920"/>
              </a:lnSpc>
            </a:pPr>
            <a:r>
              <a:rPr lang="en-US" sz="2800">
                <a:solidFill>
                  <a:srgbClr val="FFFFFF"/>
                </a:solidFill>
                <a:latin typeface="DM Sans"/>
                <a:ea typeface="DM Sans"/>
                <a:cs typeface="DM Sans"/>
                <a:sym typeface="DM Sans"/>
              </a:rPr>
              <a:t>HỌC KỲ I, NĂM HỌC 2025-2026</a:t>
            </a:r>
          </a:p>
          <a:p>
            <a:pPr algn="r">
              <a:lnSpc>
                <a:spcPts val="3920"/>
              </a:lnSpc>
            </a:pPr>
            <a:endParaRPr lang="en-US" sz="2800">
              <a:solidFill>
                <a:srgbClr val="FFFFFF"/>
              </a:solidFill>
              <a:latin typeface="DM Sans"/>
              <a:ea typeface="DM Sans"/>
              <a:cs typeface="DM Sans"/>
              <a:sym typeface="DM Sans"/>
            </a:endParaRPr>
          </a:p>
        </p:txBody>
      </p:sp>
      <p:sp>
        <p:nvSpPr>
          <p:cNvPr id="10" name="TextBox 10"/>
          <p:cNvSpPr txBox="1"/>
          <p:nvPr/>
        </p:nvSpPr>
        <p:spPr>
          <a:xfrm>
            <a:off x="12916497" y="2938126"/>
            <a:ext cx="5330645" cy="846835"/>
          </a:xfrm>
          <a:prstGeom prst="rect">
            <a:avLst/>
          </a:prstGeom>
        </p:spPr>
        <p:txBody>
          <a:bodyPr lIns="0" tIns="0" rIns="0" bIns="0" rtlCol="0" anchor="t">
            <a:spAutoFit/>
          </a:bodyPr>
          <a:lstStyle/>
          <a:p>
            <a:pPr algn="ctr">
              <a:lnSpc>
                <a:spcPts val="3360"/>
              </a:lnSpc>
            </a:pPr>
            <a:r>
              <a:rPr lang="en-US" sz="2400" dirty="0">
                <a:solidFill>
                  <a:srgbClr val="FFFFFF"/>
                </a:solidFill>
                <a:latin typeface="DM Sans"/>
                <a:ea typeface="DM Sans"/>
                <a:cs typeface="DM Sans"/>
                <a:sym typeface="DM Sans"/>
              </a:rPr>
              <a:t>TRƯỜNG ĐẠI HỌC TRÀ VINH</a:t>
            </a:r>
          </a:p>
          <a:p>
            <a:pPr algn="ctr">
              <a:lnSpc>
                <a:spcPts val="3360"/>
              </a:lnSpc>
            </a:pPr>
            <a:r>
              <a:rPr lang="en-US" sz="2400" b="1" dirty="0">
                <a:solidFill>
                  <a:srgbClr val="FFFFFF"/>
                </a:solidFill>
                <a:latin typeface="DM Sans Bold"/>
                <a:ea typeface="DM Sans Bold"/>
                <a:cs typeface="DM Sans Bold"/>
                <a:sym typeface="DM Sans Bold"/>
              </a:rPr>
              <a:t>TRƯỜNG KỸ THUẬT VÀ CÔNG NGHỆ</a:t>
            </a:r>
          </a:p>
        </p:txBody>
      </p:sp>
      <p:sp>
        <p:nvSpPr>
          <p:cNvPr id="11" name="TextBox 11"/>
          <p:cNvSpPr txBox="1"/>
          <p:nvPr/>
        </p:nvSpPr>
        <p:spPr>
          <a:xfrm>
            <a:off x="1314450" y="2931800"/>
            <a:ext cx="10785723" cy="821054"/>
          </a:xfrm>
          <a:prstGeom prst="rect">
            <a:avLst/>
          </a:prstGeom>
        </p:spPr>
        <p:txBody>
          <a:bodyPr lIns="0" tIns="0" rIns="0" bIns="0" rtlCol="0" anchor="t">
            <a:spAutoFit/>
          </a:bodyPr>
          <a:lstStyle/>
          <a:p>
            <a:pPr algn="l">
              <a:lnSpc>
                <a:spcPts val="6720"/>
              </a:lnSpc>
            </a:pPr>
            <a:r>
              <a:rPr lang="en-US" sz="4800" i="1">
                <a:solidFill>
                  <a:srgbClr val="134074"/>
                </a:solidFill>
                <a:latin typeface="Libre Baskerville Italics"/>
                <a:ea typeface="Libre Baskerville Italics"/>
                <a:cs typeface="Libre Baskerville Italics"/>
                <a:sym typeface="Libre Baskerville Italics"/>
              </a:rPr>
              <a:t>Xây dựng hệ thông Quản lý sinh viên</a:t>
            </a:r>
          </a:p>
        </p:txBody>
      </p:sp>
      <p:sp>
        <p:nvSpPr>
          <p:cNvPr id="12" name="TextBox 12"/>
          <p:cNvSpPr txBox="1"/>
          <p:nvPr/>
        </p:nvSpPr>
        <p:spPr>
          <a:xfrm>
            <a:off x="1028700" y="6437572"/>
            <a:ext cx="4038732" cy="941070"/>
          </a:xfrm>
          <a:prstGeom prst="rect">
            <a:avLst/>
          </a:prstGeom>
        </p:spPr>
        <p:txBody>
          <a:bodyPr lIns="0" tIns="0" rIns="0" bIns="0" rtlCol="0" anchor="t">
            <a:spAutoFit/>
          </a:bodyPr>
          <a:lstStyle/>
          <a:p>
            <a:pPr algn="ctr">
              <a:lnSpc>
                <a:spcPts val="3920"/>
              </a:lnSpc>
              <a:spcBef>
                <a:spcPct val="0"/>
              </a:spcBef>
            </a:pPr>
            <a:r>
              <a:rPr lang="en-US" sz="2800" b="1">
                <a:solidFill>
                  <a:srgbClr val="134074"/>
                </a:solidFill>
                <a:latin typeface="DM Sans Bold"/>
                <a:ea typeface="DM Sans Bold"/>
                <a:cs typeface="DM Sans Bold"/>
                <a:sym typeface="DM Sans Bold"/>
              </a:rPr>
              <a:t>Giảng viên hướng dẫn:</a:t>
            </a:r>
          </a:p>
          <a:p>
            <a:pPr algn="ctr">
              <a:lnSpc>
                <a:spcPts val="3640"/>
              </a:lnSpc>
              <a:spcBef>
                <a:spcPct val="0"/>
              </a:spcBef>
            </a:pPr>
            <a:r>
              <a:rPr lang="en-US" sz="2600">
                <a:solidFill>
                  <a:srgbClr val="134074"/>
                </a:solidFill>
                <a:latin typeface="DM Sans"/>
                <a:ea typeface="DM Sans"/>
                <a:cs typeface="DM Sans"/>
                <a:sym typeface="DM Sans"/>
              </a:rPr>
              <a:t>Ths. Phan Thị Phương Nam</a:t>
            </a:r>
          </a:p>
        </p:txBody>
      </p:sp>
      <p:sp>
        <p:nvSpPr>
          <p:cNvPr id="13" name="TextBox 13"/>
          <p:cNvSpPr txBox="1"/>
          <p:nvPr/>
        </p:nvSpPr>
        <p:spPr>
          <a:xfrm>
            <a:off x="5838098" y="9183707"/>
            <a:ext cx="869213" cy="481329"/>
          </a:xfrm>
          <a:prstGeom prst="rect">
            <a:avLst/>
          </a:prstGeom>
        </p:spPr>
        <p:txBody>
          <a:bodyPr wrap="square" lIns="0" tIns="0" rIns="0" bIns="0" rtlCol="0" anchor="t">
            <a:spAutoFit/>
          </a:bodyPr>
          <a:lstStyle/>
          <a:p>
            <a:pPr algn="ctr">
              <a:lnSpc>
                <a:spcPts val="3920"/>
              </a:lnSpc>
              <a:spcBef>
                <a:spcPct val="0"/>
              </a:spcBef>
            </a:pPr>
            <a:r>
              <a:rPr lang="en-US" sz="2800" dirty="0">
                <a:solidFill>
                  <a:srgbClr val="000000"/>
                </a:solidFill>
                <a:latin typeface="DM Sans"/>
                <a:ea typeface="DM Sans"/>
                <a:cs typeface="DM Sans"/>
                <a:sym typeface="DM Sans"/>
              </a:rPr>
              <a:t>1/20</a:t>
            </a:r>
          </a:p>
        </p:txBody>
      </p:sp>
      <p:pic>
        <p:nvPicPr>
          <p:cNvPr id="15" name="Picture 14" descr="A blue and white logo&#10;&#10;AI-generated content may be incorrect.">
            <a:extLst>
              <a:ext uri="{FF2B5EF4-FFF2-40B4-BE49-F238E27FC236}">
                <a16:creationId xmlns:a16="http://schemas.microsoft.com/office/drawing/2014/main" id="{CC0D04C1-8D95-D4A5-89D4-7CD33220AE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563810" y="421768"/>
            <a:ext cx="2074942" cy="207494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4ED"/>
        </a:solidFill>
        <a:effectLst/>
      </p:bgPr>
    </p:bg>
    <p:spTree>
      <p:nvGrpSpPr>
        <p:cNvPr id="1" name=""/>
        <p:cNvGrpSpPr/>
        <p:nvPr/>
      </p:nvGrpSpPr>
      <p:grpSpPr>
        <a:xfrm>
          <a:off x="0" y="0"/>
          <a:ext cx="0" cy="0"/>
          <a:chOff x="0" y="0"/>
          <a:chExt cx="0" cy="0"/>
        </a:xfrm>
      </p:grpSpPr>
      <p:sp>
        <p:nvSpPr>
          <p:cNvPr id="2" name="TextBox 2"/>
          <p:cNvSpPr txBox="1"/>
          <p:nvPr/>
        </p:nvSpPr>
        <p:spPr>
          <a:xfrm>
            <a:off x="1314450" y="654877"/>
            <a:ext cx="10086446" cy="1642110"/>
          </a:xfrm>
          <a:prstGeom prst="rect">
            <a:avLst/>
          </a:prstGeom>
        </p:spPr>
        <p:txBody>
          <a:bodyPr lIns="0" tIns="0" rIns="0" bIns="0" rtlCol="0" anchor="t">
            <a:spAutoFit/>
          </a:bodyPr>
          <a:lstStyle/>
          <a:p>
            <a:pPr algn="l">
              <a:lnSpc>
                <a:spcPts val="13439"/>
              </a:lnSpc>
            </a:pPr>
            <a:r>
              <a:rPr lang="en-US" sz="9600" b="1">
                <a:solidFill>
                  <a:srgbClr val="134074"/>
                </a:solidFill>
                <a:latin typeface="DM Sans Bold"/>
                <a:ea typeface="DM Sans Bold"/>
                <a:cs typeface="DM Sans Bold"/>
                <a:sym typeface="DM Sans Bold"/>
              </a:rPr>
              <a:t>Lý do chọn đề tài</a:t>
            </a:r>
          </a:p>
        </p:txBody>
      </p:sp>
      <p:grpSp>
        <p:nvGrpSpPr>
          <p:cNvPr id="3" name="Group 3"/>
          <p:cNvGrpSpPr/>
          <p:nvPr/>
        </p:nvGrpSpPr>
        <p:grpSpPr>
          <a:xfrm>
            <a:off x="7825693" y="2247756"/>
            <a:ext cx="3377916" cy="177827"/>
            <a:chOff x="0" y="0"/>
            <a:chExt cx="889657" cy="46835"/>
          </a:xfrm>
        </p:grpSpPr>
        <p:sp>
          <p:nvSpPr>
            <p:cNvPr id="4" name="Freeform 4"/>
            <p:cNvSpPr/>
            <p:nvPr/>
          </p:nvSpPr>
          <p:spPr>
            <a:xfrm>
              <a:off x="0" y="0"/>
              <a:ext cx="889657" cy="46835"/>
            </a:xfrm>
            <a:custGeom>
              <a:avLst/>
              <a:gdLst/>
              <a:ahLst/>
              <a:cxnLst/>
              <a:rect l="l" t="t" r="r" b="b"/>
              <a:pathLst>
                <a:path w="889657" h="46835">
                  <a:moveTo>
                    <a:pt x="0" y="0"/>
                  </a:moveTo>
                  <a:lnTo>
                    <a:pt x="889657" y="0"/>
                  </a:lnTo>
                  <a:lnTo>
                    <a:pt x="889657" y="46835"/>
                  </a:lnTo>
                  <a:lnTo>
                    <a:pt x="0" y="46835"/>
                  </a:lnTo>
                  <a:close/>
                </a:path>
              </a:pathLst>
            </a:custGeom>
            <a:solidFill>
              <a:srgbClr val="8DA9C4"/>
            </a:solidFill>
          </p:spPr>
          <p:txBody>
            <a:bodyPr/>
            <a:lstStyle/>
            <a:p>
              <a:endParaRPr lang="en-US"/>
            </a:p>
          </p:txBody>
        </p:sp>
        <p:sp>
          <p:nvSpPr>
            <p:cNvPr id="5" name="TextBox 5"/>
            <p:cNvSpPr txBox="1"/>
            <p:nvPr/>
          </p:nvSpPr>
          <p:spPr>
            <a:xfrm>
              <a:off x="0" y="-38100"/>
              <a:ext cx="889657" cy="8493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24011" y="9830140"/>
            <a:ext cx="18312011" cy="460672"/>
            <a:chOff x="0" y="0"/>
            <a:chExt cx="4822917" cy="121329"/>
          </a:xfrm>
        </p:grpSpPr>
        <p:sp>
          <p:nvSpPr>
            <p:cNvPr id="7" name="Freeform 7"/>
            <p:cNvSpPr/>
            <p:nvPr/>
          </p:nvSpPr>
          <p:spPr>
            <a:xfrm>
              <a:off x="0" y="0"/>
              <a:ext cx="4822916" cy="121329"/>
            </a:xfrm>
            <a:custGeom>
              <a:avLst/>
              <a:gdLst/>
              <a:ahLst/>
              <a:cxnLst/>
              <a:rect l="l" t="t" r="r" b="b"/>
              <a:pathLst>
                <a:path w="4822916" h="121329">
                  <a:moveTo>
                    <a:pt x="0" y="0"/>
                  </a:moveTo>
                  <a:lnTo>
                    <a:pt x="4822916" y="0"/>
                  </a:lnTo>
                  <a:lnTo>
                    <a:pt x="4822916" y="121329"/>
                  </a:lnTo>
                  <a:lnTo>
                    <a:pt x="0" y="121329"/>
                  </a:lnTo>
                  <a:close/>
                </a:path>
              </a:pathLst>
            </a:custGeom>
            <a:solidFill>
              <a:srgbClr val="134074"/>
            </a:solidFill>
          </p:spPr>
          <p:txBody>
            <a:bodyPr/>
            <a:lstStyle/>
            <a:p>
              <a:endParaRPr lang="en-US"/>
            </a:p>
          </p:txBody>
        </p:sp>
        <p:sp>
          <p:nvSpPr>
            <p:cNvPr id="8" name="TextBox 8"/>
            <p:cNvSpPr txBox="1"/>
            <p:nvPr/>
          </p:nvSpPr>
          <p:spPr>
            <a:xfrm>
              <a:off x="0" y="-47625"/>
              <a:ext cx="4822917" cy="168954"/>
            </a:xfrm>
            <a:prstGeom prst="rect">
              <a:avLst/>
            </a:prstGeom>
          </p:spPr>
          <p:txBody>
            <a:bodyPr lIns="50800" tIns="50800" rIns="50800" bIns="50800" rtlCol="0" anchor="ctr"/>
            <a:lstStyle/>
            <a:p>
              <a:pPr algn="ctr">
                <a:lnSpc>
                  <a:spcPts val="3080"/>
                </a:lnSpc>
              </a:pPr>
              <a:endParaRPr/>
            </a:p>
          </p:txBody>
        </p:sp>
      </p:grpSp>
      <p:sp>
        <p:nvSpPr>
          <p:cNvPr id="9" name="TextBox 9"/>
          <p:cNvSpPr txBox="1"/>
          <p:nvPr/>
        </p:nvSpPr>
        <p:spPr>
          <a:xfrm>
            <a:off x="1278343" y="3602049"/>
            <a:ext cx="15707303" cy="2622316"/>
          </a:xfrm>
          <a:prstGeom prst="rect">
            <a:avLst/>
          </a:prstGeom>
        </p:spPr>
        <p:txBody>
          <a:bodyPr lIns="0" tIns="0" rIns="0" bIns="0" rtlCol="0" anchor="t">
            <a:spAutoFit/>
          </a:bodyPr>
          <a:lstStyle/>
          <a:p>
            <a:pPr algn="just">
              <a:lnSpc>
                <a:spcPts val="4165"/>
              </a:lnSpc>
              <a:spcBef>
                <a:spcPct val="0"/>
              </a:spcBef>
            </a:pPr>
            <a:r>
              <a:rPr lang="en-US" sz="2975" b="1">
                <a:solidFill>
                  <a:srgbClr val="13315C"/>
                </a:solidFill>
                <a:latin typeface="DM Sans Bold"/>
                <a:ea typeface="DM Sans Bold"/>
                <a:cs typeface="DM Sans Bold"/>
                <a:sym typeface="DM Sans Bold"/>
              </a:rPr>
              <a:t>Hầu hết các ứng dụng web đều cần API để giao tiếp giữa frontend và backend. RESTful API là chuẩn phổ biến vì cách tổ chức rõ ràng, sử dụng trực tiếp các phương thức HTTP và dễ tích hợp với nhiều nền tảng khác nhau. Việc chọn đề tài này giúp làm rõ cách thiết kế, xây dựng và sử dụng API đúng chuẩn, từ đó hiểu sâu hơn cách một hệ thống web hoạt động ở phía backend.</a:t>
            </a:r>
          </a:p>
        </p:txBody>
      </p:sp>
      <p:sp>
        <p:nvSpPr>
          <p:cNvPr id="10" name="TextBox 10"/>
          <p:cNvSpPr txBox="1"/>
          <p:nvPr/>
        </p:nvSpPr>
        <p:spPr>
          <a:xfrm>
            <a:off x="8737633" y="8776971"/>
            <a:ext cx="1092167" cy="481329"/>
          </a:xfrm>
          <a:prstGeom prst="rect">
            <a:avLst/>
          </a:prstGeom>
        </p:spPr>
        <p:txBody>
          <a:bodyPr wrap="square" lIns="0" tIns="0" rIns="0" bIns="0" rtlCol="0" anchor="t">
            <a:spAutoFit/>
          </a:bodyPr>
          <a:lstStyle/>
          <a:p>
            <a:pPr algn="ctr">
              <a:lnSpc>
                <a:spcPts val="3920"/>
              </a:lnSpc>
              <a:spcBef>
                <a:spcPct val="0"/>
              </a:spcBef>
            </a:pPr>
            <a:r>
              <a:rPr lang="en-US" sz="2800" dirty="0">
                <a:solidFill>
                  <a:srgbClr val="000000"/>
                </a:solidFill>
                <a:latin typeface="DM Sans"/>
                <a:ea typeface="DM Sans"/>
                <a:cs typeface="DM Sans"/>
                <a:sym typeface="DM Sans"/>
              </a:rPr>
              <a:t>2/20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4ED"/>
        </a:solidFill>
        <a:effectLst/>
      </p:bgPr>
    </p:bg>
    <p:spTree>
      <p:nvGrpSpPr>
        <p:cNvPr id="1" name=""/>
        <p:cNvGrpSpPr/>
        <p:nvPr/>
      </p:nvGrpSpPr>
      <p:grpSpPr>
        <a:xfrm>
          <a:off x="0" y="0"/>
          <a:ext cx="0" cy="0"/>
          <a:chOff x="0" y="0"/>
          <a:chExt cx="0" cy="0"/>
        </a:xfrm>
      </p:grpSpPr>
      <p:sp>
        <p:nvSpPr>
          <p:cNvPr id="2" name="TextBox 2"/>
          <p:cNvSpPr txBox="1"/>
          <p:nvPr/>
        </p:nvSpPr>
        <p:spPr>
          <a:xfrm>
            <a:off x="1314450" y="654877"/>
            <a:ext cx="8892911" cy="1642110"/>
          </a:xfrm>
          <a:prstGeom prst="rect">
            <a:avLst/>
          </a:prstGeom>
        </p:spPr>
        <p:txBody>
          <a:bodyPr lIns="0" tIns="0" rIns="0" bIns="0" rtlCol="0" anchor="t">
            <a:spAutoFit/>
          </a:bodyPr>
          <a:lstStyle/>
          <a:p>
            <a:pPr algn="l">
              <a:lnSpc>
                <a:spcPts val="13439"/>
              </a:lnSpc>
            </a:pPr>
            <a:r>
              <a:rPr lang="en-US" sz="9600" b="1">
                <a:solidFill>
                  <a:srgbClr val="134074"/>
                </a:solidFill>
                <a:latin typeface="DM Sans Bold"/>
                <a:ea typeface="DM Sans Bold"/>
                <a:cs typeface="DM Sans Bold"/>
                <a:sym typeface="DM Sans Bold"/>
              </a:rPr>
              <a:t>Mục tiêu đề tài</a:t>
            </a:r>
          </a:p>
        </p:txBody>
      </p:sp>
      <p:grpSp>
        <p:nvGrpSpPr>
          <p:cNvPr id="3" name="Group 3"/>
          <p:cNvGrpSpPr/>
          <p:nvPr/>
        </p:nvGrpSpPr>
        <p:grpSpPr>
          <a:xfrm>
            <a:off x="7063693" y="2247756"/>
            <a:ext cx="3377916" cy="177827"/>
            <a:chOff x="0" y="0"/>
            <a:chExt cx="889657" cy="46835"/>
          </a:xfrm>
        </p:grpSpPr>
        <p:sp>
          <p:nvSpPr>
            <p:cNvPr id="4" name="Freeform 4"/>
            <p:cNvSpPr/>
            <p:nvPr/>
          </p:nvSpPr>
          <p:spPr>
            <a:xfrm>
              <a:off x="0" y="0"/>
              <a:ext cx="889657" cy="46835"/>
            </a:xfrm>
            <a:custGeom>
              <a:avLst/>
              <a:gdLst/>
              <a:ahLst/>
              <a:cxnLst/>
              <a:rect l="l" t="t" r="r" b="b"/>
              <a:pathLst>
                <a:path w="889657" h="46835">
                  <a:moveTo>
                    <a:pt x="0" y="0"/>
                  </a:moveTo>
                  <a:lnTo>
                    <a:pt x="889657" y="0"/>
                  </a:lnTo>
                  <a:lnTo>
                    <a:pt x="889657" y="46835"/>
                  </a:lnTo>
                  <a:lnTo>
                    <a:pt x="0" y="46835"/>
                  </a:lnTo>
                  <a:close/>
                </a:path>
              </a:pathLst>
            </a:custGeom>
            <a:solidFill>
              <a:srgbClr val="8DA9C4"/>
            </a:solidFill>
          </p:spPr>
          <p:txBody>
            <a:bodyPr/>
            <a:lstStyle/>
            <a:p>
              <a:endParaRPr lang="en-US"/>
            </a:p>
          </p:txBody>
        </p:sp>
        <p:sp>
          <p:nvSpPr>
            <p:cNvPr id="5" name="TextBox 5"/>
            <p:cNvSpPr txBox="1"/>
            <p:nvPr/>
          </p:nvSpPr>
          <p:spPr>
            <a:xfrm>
              <a:off x="0" y="-38100"/>
              <a:ext cx="889657" cy="84935"/>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5740086" y="8290868"/>
            <a:ext cx="4402996" cy="4114800"/>
          </a:xfrm>
          <a:custGeom>
            <a:avLst/>
            <a:gdLst/>
            <a:ahLst/>
            <a:cxnLst/>
            <a:rect l="l" t="t" r="r" b="b"/>
            <a:pathLst>
              <a:path w="4402996" h="4114800">
                <a:moveTo>
                  <a:pt x="0" y="0"/>
                </a:moveTo>
                <a:lnTo>
                  <a:pt x="4402996" y="0"/>
                </a:lnTo>
                <a:lnTo>
                  <a:pt x="440299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7" name="TextBox 7"/>
          <p:cNvSpPr txBox="1"/>
          <p:nvPr/>
        </p:nvSpPr>
        <p:spPr>
          <a:xfrm>
            <a:off x="1314450" y="3509648"/>
            <a:ext cx="11010685" cy="4781220"/>
          </a:xfrm>
          <a:prstGeom prst="rect">
            <a:avLst/>
          </a:prstGeom>
        </p:spPr>
        <p:txBody>
          <a:bodyPr lIns="0" tIns="0" rIns="0" bIns="0" rtlCol="0" anchor="t">
            <a:spAutoFit/>
          </a:bodyPr>
          <a:lstStyle/>
          <a:p>
            <a:pPr marL="731464" lvl="1" indent="-365732" algn="l">
              <a:lnSpc>
                <a:spcPts val="4743"/>
              </a:lnSpc>
              <a:buFont typeface="Arial"/>
              <a:buChar char="•"/>
            </a:pPr>
            <a:r>
              <a:rPr lang="en-US" sz="3387">
                <a:solidFill>
                  <a:srgbClr val="134074"/>
                </a:solidFill>
                <a:latin typeface="DM Sans"/>
                <a:ea typeface="DM Sans"/>
                <a:cs typeface="DM Sans"/>
                <a:sym typeface="DM Sans"/>
              </a:rPr>
              <a:t>Giúp hiểu rõ bản chất của API và kiến trúc RESTful</a:t>
            </a:r>
          </a:p>
          <a:p>
            <a:pPr marL="731464" lvl="1" indent="-365732" algn="l">
              <a:lnSpc>
                <a:spcPts val="4743"/>
              </a:lnSpc>
              <a:buFont typeface="Arial"/>
              <a:buChar char="•"/>
            </a:pPr>
            <a:r>
              <a:rPr lang="en-US" sz="3387">
                <a:solidFill>
                  <a:srgbClr val="134074"/>
                </a:solidFill>
                <a:latin typeface="DM Sans"/>
                <a:ea typeface="DM Sans"/>
                <a:cs typeface="DM Sans"/>
                <a:sym typeface="DM Sans"/>
              </a:rPr>
              <a:t>Cách tổ chức tài nguyên đến cách sử dụng các phương thức HTTP và mã trạng thái phù hợp.</a:t>
            </a:r>
          </a:p>
          <a:p>
            <a:pPr marL="731464" lvl="1" indent="-365732" algn="l">
              <a:lnSpc>
                <a:spcPts val="4743"/>
              </a:lnSpc>
              <a:buFont typeface="Arial"/>
              <a:buChar char="•"/>
            </a:pPr>
            <a:r>
              <a:rPr lang="en-US" sz="3387">
                <a:solidFill>
                  <a:srgbClr val="134074"/>
                </a:solidFill>
                <a:latin typeface="DM Sans"/>
                <a:ea typeface="DM Sans"/>
                <a:cs typeface="DM Sans"/>
                <a:sym typeface="DM Sans"/>
              </a:rPr>
              <a:t>Áp dụng vào xây dựng hệ thống quản lý sinh viên</a:t>
            </a:r>
          </a:p>
          <a:p>
            <a:pPr marL="731464" lvl="1" indent="-365732" algn="l">
              <a:lnSpc>
                <a:spcPts val="4743"/>
              </a:lnSpc>
              <a:buFont typeface="Arial"/>
              <a:buChar char="•"/>
            </a:pPr>
            <a:r>
              <a:rPr lang="en-US" sz="3387">
                <a:solidFill>
                  <a:srgbClr val="134074"/>
                </a:solidFill>
                <a:latin typeface="DM Sans"/>
                <a:ea typeface="DM Sans"/>
                <a:cs typeface="DM Sans"/>
                <a:sym typeface="DM Sans"/>
              </a:rPr>
              <a:t>Kết nối hiệu quả giữa frontend và backend trong một hệ thống web thực tế.</a:t>
            </a:r>
          </a:p>
          <a:p>
            <a:pPr algn="l">
              <a:lnSpc>
                <a:spcPts val="4743"/>
              </a:lnSpc>
            </a:pPr>
            <a:endParaRPr lang="en-US" sz="3387">
              <a:solidFill>
                <a:srgbClr val="134074"/>
              </a:solidFill>
              <a:latin typeface="DM Sans"/>
              <a:ea typeface="DM Sans"/>
              <a:cs typeface="DM Sans"/>
              <a:sym typeface="DM Sans"/>
            </a:endParaRPr>
          </a:p>
          <a:p>
            <a:pPr algn="l">
              <a:lnSpc>
                <a:spcPts val="4743"/>
              </a:lnSpc>
            </a:pPr>
            <a:endParaRPr lang="en-US" sz="3387">
              <a:solidFill>
                <a:srgbClr val="134074"/>
              </a:solidFill>
              <a:latin typeface="DM Sans"/>
              <a:ea typeface="DM Sans"/>
              <a:cs typeface="DM Sans"/>
              <a:sym typeface="DM Sans"/>
            </a:endParaRPr>
          </a:p>
        </p:txBody>
      </p:sp>
      <p:sp>
        <p:nvSpPr>
          <p:cNvPr id="8" name="TextBox 8"/>
          <p:cNvSpPr txBox="1"/>
          <p:nvPr/>
        </p:nvSpPr>
        <p:spPr>
          <a:xfrm>
            <a:off x="8143262" y="9201150"/>
            <a:ext cx="924538" cy="481329"/>
          </a:xfrm>
          <a:prstGeom prst="rect">
            <a:avLst/>
          </a:prstGeom>
        </p:spPr>
        <p:txBody>
          <a:bodyPr wrap="square" lIns="0" tIns="0" rIns="0" bIns="0" rtlCol="0" anchor="t">
            <a:spAutoFit/>
          </a:bodyPr>
          <a:lstStyle/>
          <a:p>
            <a:pPr algn="ctr">
              <a:lnSpc>
                <a:spcPts val="3920"/>
              </a:lnSpc>
              <a:spcBef>
                <a:spcPct val="0"/>
              </a:spcBef>
            </a:pPr>
            <a:r>
              <a:rPr lang="en-US" sz="2800" dirty="0">
                <a:solidFill>
                  <a:srgbClr val="134074"/>
                </a:solidFill>
                <a:latin typeface="DM Sans"/>
                <a:ea typeface="DM Sans"/>
                <a:cs typeface="DM Sans"/>
                <a:sym typeface="DM Sans"/>
              </a:rPr>
              <a:t>3/20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4ED"/>
        </a:solidFill>
        <a:effectLst/>
      </p:bgPr>
    </p:bg>
    <p:spTree>
      <p:nvGrpSpPr>
        <p:cNvPr id="1" name="">
          <a:extLst>
            <a:ext uri="{FF2B5EF4-FFF2-40B4-BE49-F238E27FC236}">
              <a16:creationId xmlns:a16="http://schemas.microsoft.com/office/drawing/2014/main" id="{7A6D3C29-E875-9D31-C793-246E0EA8A61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F7B14B2-EBA9-D1FD-04AA-2A2D02F6D577}"/>
              </a:ext>
            </a:extLst>
          </p:cNvPr>
          <p:cNvSpPr txBox="1"/>
          <p:nvPr/>
        </p:nvSpPr>
        <p:spPr>
          <a:xfrm>
            <a:off x="1314450" y="654877"/>
            <a:ext cx="13696950" cy="1624291"/>
          </a:xfrm>
          <a:prstGeom prst="rect">
            <a:avLst/>
          </a:prstGeom>
        </p:spPr>
        <p:txBody>
          <a:bodyPr wrap="square" lIns="0" tIns="0" rIns="0" bIns="0" rtlCol="0" anchor="t">
            <a:spAutoFit/>
          </a:bodyPr>
          <a:lstStyle/>
          <a:p>
            <a:pPr algn="l">
              <a:lnSpc>
                <a:spcPts val="13439"/>
              </a:lnSpc>
            </a:pPr>
            <a:r>
              <a:rPr lang="en-US" sz="9600" b="1" dirty="0" err="1">
                <a:solidFill>
                  <a:srgbClr val="134074"/>
                </a:solidFill>
                <a:latin typeface="DM Sans Bold"/>
                <a:ea typeface="DM Sans Bold"/>
                <a:cs typeface="DM Sans Bold"/>
                <a:sym typeface="DM Sans Bold"/>
              </a:rPr>
              <a:t>Đối</a:t>
            </a:r>
            <a:r>
              <a:rPr lang="en-US" sz="9600" b="1" dirty="0">
                <a:solidFill>
                  <a:srgbClr val="134074"/>
                </a:solidFill>
                <a:latin typeface="DM Sans Bold"/>
                <a:ea typeface="DM Sans Bold"/>
                <a:cs typeface="DM Sans Bold"/>
                <a:sym typeface="DM Sans Bold"/>
              </a:rPr>
              <a:t> </a:t>
            </a:r>
            <a:r>
              <a:rPr lang="en-US" sz="9600" b="1" dirty="0" err="1">
                <a:solidFill>
                  <a:srgbClr val="134074"/>
                </a:solidFill>
                <a:latin typeface="DM Sans Bold"/>
                <a:ea typeface="DM Sans Bold"/>
                <a:cs typeface="DM Sans Bold"/>
                <a:sym typeface="DM Sans Bold"/>
              </a:rPr>
              <a:t>tượng</a:t>
            </a:r>
            <a:r>
              <a:rPr lang="en-US" sz="9600" b="1" dirty="0">
                <a:solidFill>
                  <a:srgbClr val="134074"/>
                </a:solidFill>
                <a:latin typeface="DM Sans Bold"/>
                <a:ea typeface="DM Sans Bold"/>
                <a:cs typeface="DM Sans Bold"/>
                <a:sym typeface="DM Sans Bold"/>
              </a:rPr>
              <a:t> </a:t>
            </a:r>
            <a:r>
              <a:rPr lang="en-US" sz="9600" b="1" dirty="0" err="1">
                <a:solidFill>
                  <a:srgbClr val="134074"/>
                </a:solidFill>
                <a:latin typeface="DM Sans Bold"/>
                <a:ea typeface="DM Sans Bold"/>
                <a:cs typeface="DM Sans Bold"/>
                <a:sym typeface="DM Sans Bold"/>
              </a:rPr>
              <a:t>nghiên</a:t>
            </a:r>
            <a:r>
              <a:rPr lang="en-US" sz="9600" b="1" dirty="0">
                <a:solidFill>
                  <a:srgbClr val="134074"/>
                </a:solidFill>
                <a:latin typeface="DM Sans Bold"/>
                <a:ea typeface="DM Sans Bold"/>
                <a:cs typeface="DM Sans Bold"/>
                <a:sym typeface="DM Sans Bold"/>
              </a:rPr>
              <a:t> </a:t>
            </a:r>
            <a:r>
              <a:rPr lang="en-US" sz="9600" b="1" dirty="0" err="1">
                <a:solidFill>
                  <a:srgbClr val="134074"/>
                </a:solidFill>
                <a:latin typeface="DM Sans Bold"/>
                <a:ea typeface="DM Sans Bold"/>
                <a:cs typeface="DM Sans Bold"/>
                <a:sym typeface="DM Sans Bold"/>
              </a:rPr>
              <a:t>cứu</a:t>
            </a:r>
            <a:endParaRPr lang="en-US" sz="9600" b="1" dirty="0">
              <a:solidFill>
                <a:srgbClr val="134074"/>
              </a:solidFill>
              <a:latin typeface="DM Sans Bold"/>
              <a:ea typeface="DM Sans Bold"/>
              <a:cs typeface="DM Sans Bold"/>
              <a:sym typeface="DM Sans Bold"/>
            </a:endParaRPr>
          </a:p>
        </p:txBody>
      </p:sp>
      <p:grpSp>
        <p:nvGrpSpPr>
          <p:cNvPr id="3" name="Group 3">
            <a:extLst>
              <a:ext uri="{FF2B5EF4-FFF2-40B4-BE49-F238E27FC236}">
                <a16:creationId xmlns:a16="http://schemas.microsoft.com/office/drawing/2014/main" id="{255D0060-623A-0A8D-BA33-1F3C0DA13A83}"/>
              </a:ext>
            </a:extLst>
          </p:cNvPr>
          <p:cNvGrpSpPr/>
          <p:nvPr/>
        </p:nvGrpSpPr>
        <p:grpSpPr>
          <a:xfrm>
            <a:off x="7063693" y="2247756"/>
            <a:ext cx="3377916" cy="177827"/>
            <a:chOff x="0" y="0"/>
            <a:chExt cx="889657" cy="46835"/>
          </a:xfrm>
        </p:grpSpPr>
        <p:sp>
          <p:nvSpPr>
            <p:cNvPr id="4" name="Freeform 4">
              <a:extLst>
                <a:ext uri="{FF2B5EF4-FFF2-40B4-BE49-F238E27FC236}">
                  <a16:creationId xmlns:a16="http://schemas.microsoft.com/office/drawing/2014/main" id="{E9A7796F-BB16-BFAB-5C04-7FC829E2665F}"/>
                </a:ext>
              </a:extLst>
            </p:cNvPr>
            <p:cNvSpPr/>
            <p:nvPr/>
          </p:nvSpPr>
          <p:spPr>
            <a:xfrm>
              <a:off x="0" y="0"/>
              <a:ext cx="889657" cy="46835"/>
            </a:xfrm>
            <a:custGeom>
              <a:avLst/>
              <a:gdLst/>
              <a:ahLst/>
              <a:cxnLst/>
              <a:rect l="l" t="t" r="r" b="b"/>
              <a:pathLst>
                <a:path w="889657" h="46835">
                  <a:moveTo>
                    <a:pt x="0" y="0"/>
                  </a:moveTo>
                  <a:lnTo>
                    <a:pt x="889657" y="0"/>
                  </a:lnTo>
                  <a:lnTo>
                    <a:pt x="889657" y="46835"/>
                  </a:lnTo>
                  <a:lnTo>
                    <a:pt x="0" y="46835"/>
                  </a:lnTo>
                  <a:close/>
                </a:path>
              </a:pathLst>
            </a:custGeom>
            <a:solidFill>
              <a:srgbClr val="8DA9C4"/>
            </a:solidFill>
          </p:spPr>
          <p:txBody>
            <a:bodyPr/>
            <a:lstStyle/>
            <a:p>
              <a:endParaRPr lang="en-US"/>
            </a:p>
          </p:txBody>
        </p:sp>
        <p:sp>
          <p:nvSpPr>
            <p:cNvPr id="5" name="TextBox 5">
              <a:extLst>
                <a:ext uri="{FF2B5EF4-FFF2-40B4-BE49-F238E27FC236}">
                  <a16:creationId xmlns:a16="http://schemas.microsoft.com/office/drawing/2014/main" id="{1901FBCA-5C7A-3BA0-FE37-7EBE2F75FB24}"/>
                </a:ext>
              </a:extLst>
            </p:cNvPr>
            <p:cNvSpPr txBox="1"/>
            <p:nvPr/>
          </p:nvSpPr>
          <p:spPr>
            <a:xfrm>
              <a:off x="0" y="-38100"/>
              <a:ext cx="889657" cy="84935"/>
            </a:xfrm>
            <a:prstGeom prst="rect">
              <a:avLst/>
            </a:prstGeom>
          </p:spPr>
          <p:txBody>
            <a:bodyPr lIns="50800" tIns="50800" rIns="50800" bIns="50800" rtlCol="0" anchor="ctr"/>
            <a:lstStyle/>
            <a:p>
              <a:pPr algn="ctr">
                <a:lnSpc>
                  <a:spcPts val="2659"/>
                </a:lnSpc>
              </a:pPr>
              <a:endParaRPr/>
            </a:p>
          </p:txBody>
        </p:sp>
      </p:grpSp>
      <p:sp>
        <p:nvSpPr>
          <p:cNvPr id="6" name="Freeform 6">
            <a:extLst>
              <a:ext uri="{FF2B5EF4-FFF2-40B4-BE49-F238E27FC236}">
                <a16:creationId xmlns:a16="http://schemas.microsoft.com/office/drawing/2014/main" id="{59225EE9-019E-9ACB-3DBA-D7F35BE82AD5}"/>
              </a:ext>
            </a:extLst>
          </p:cNvPr>
          <p:cNvSpPr/>
          <p:nvPr/>
        </p:nvSpPr>
        <p:spPr>
          <a:xfrm>
            <a:off x="15740086" y="8290868"/>
            <a:ext cx="4402996" cy="4114800"/>
          </a:xfrm>
          <a:custGeom>
            <a:avLst/>
            <a:gdLst/>
            <a:ahLst/>
            <a:cxnLst/>
            <a:rect l="l" t="t" r="r" b="b"/>
            <a:pathLst>
              <a:path w="4402996" h="4114800">
                <a:moveTo>
                  <a:pt x="0" y="0"/>
                </a:moveTo>
                <a:lnTo>
                  <a:pt x="4402996" y="0"/>
                </a:lnTo>
                <a:lnTo>
                  <a:pt x="440299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7" name="TextBox 7">
            <a:extLst>
              <a:ext uri="{FF2B5EF4-FFF2-40B4-BE49-F238E27FC236}">
                <a16:creationId xmlns:a16="http://schemas.microsoft.com/office/drawing/2014/main" id="{F2A0C91B-1936-8D76-32D4-6982FBCD48D0}"/>
              </a:ext>
            </a:extLst>
          </p:cNvPr>
          <p:cNvSpPr txBox="1"/>
          <p:nvPr/>
        </p:nvSpPr>
        <p:spPr>
          <a:xfrm>
            <a:off x="1314450" y="3509648"/>
            <a:ext cx="11010685" cy="3589765"/>
          </a:xfrm>
          <a:prstGeom prst="rect">
            <a:avLst/>
          </a:prstGeom>
        </p:spPr>
        <p:txBody>
          <a:bodyPr lIns="0" tIns="0" rIns="0" bIns="0" rtlCol="0" anchor="t">
            <a:spAutoFit/>
          </a:bodyPr>
          <a:lstStyle/>
          <a:p>
            <a:pPr marL="731464" lvl="1" indent="-365732" algn="l">
              <a:lnSpc>
                <a:spcPts val="4743"/>
              </a:lnSpc>
              <a:buFont typeface="Arial"/>
              <a:buChar char="•"/>
            </a:pPr>
            <a:r>
              <a:rPr lang="vi-VN" sz="3387" dirty="0">
                <a:solidFill>
                  <a:srgbClr val="134074"/>
                </a:solidFill>
                <a:latin typeface="DM Sans"/>
                <a:ea typeface="DM Sans"/>
                <a:cs typeface="DM Sans"/>
                <a:sym typeface="DM Sans"/>
              </a:rPr>
              <a:t>Đề tài nghiên cứu các nguyên lý và thực hành thiết kế RESTful API, bao gồm xây dựng endpoint, sử dụng HTTP methods, status codes, định dạng JSON, xử lý request/response, bảo mật cơ bản và triển khai API trong ứng dụng web.</a:t>
            </a:r>
            <a:endParaRPr lang="en-US" sz="3387" dirty="0">
              <a:solidFill>
                <a:srgbClr val="134074"/>
              </a:solidFill>
              <a:latin typeface="DM Sans"/>
              <a:ea typeface="DM Sans"/>
              <a:cs typeface="DM Sans"/>
              <a:sym typeface="DM Sans"/>
            </a:endParaRPr>
          </a:p>
          <a:p>
            <a:pPr algn="l">
              <a:lnSpc>
                <a:spcPts val="4743"/>
              </a:lnSpc>
            </a:pPr>
            <a:endParaRPr lang="en-US" sz="3387" dirty="0">
              <a:solidFill>
                <a:srgbClr val="134074"/>
              </a:solidFill>
              <a:latin typeface="DM Sans"/>
              <a:ea typeface="DM Sans"/>
              <a:cs typeface="DM Sans"/>
              <a:sym typeface="DM Sans"/>
            </a:endParaRPr>
          </a:p>
        </p:txBody>
      </p:sp>
      <p:sp>
        <p:nvSpPr>
          <p:cNvPr id="8" name="TextBox 8">
            <a:extLst>
              <a:ext uri="{FF2B5EF4-FFF2-40B4-BE49-F238E27FC236}">
                <a16:creationId xmlns:a16="http://schemas.microsoft.com/office/drawing/2014/main" id="{7649709E-1F5A-6871-9A3F-8C68BEC952FD}"/>
              </a:ext>
            </a:extLst>
          </p:cNvPr>
          <p:cNvSpPr txBox="1"/>
          <p:nvPr/>
        </p:nvSpPr>
        <p:spPr>
          <a:xfrm>
            <a:off x="8143262" y="9201150"/>
            <a:ext cx="924538" cy="481329"/>
          </a:xfrm>
          <a:prstGeom prst="rect">
            <a:avLst/>
          </a:prstGeom>
        </p:spPr>
        <p:txBody>
          <a:bodyPr wrap="square" lIns="0" tIns="0" rIns="0" bIns="0" rtlCol="0" anchor="t">
            <a:spAutoFit/>
          </a:bodyPr>
          <a:lstStyle/>
          <a:p>
            <a:pPr algn="ctr">
              <a:lnSpc>
                <a:spcPts val="3920"/>
              </a:lnSpc>
              <a:spcBef>
                <a:spcPct val="0"/>
              </a:spcBef>
            </a:pPr>
            <a:r>
              <a:rPr lang="en-US" sz="2800" dirty="0">
                <a:solidFill>
                  <a:srgbClr val="134074"/>
                </a:solidFill>
                <a:latin typeface="DM Sans"/>
                <a:ea typeface="DM Sans"/>
                <a:cs typeface="DM Sans"/>
                <a:sym typeface="DM Sans"/>
              </a:rPr>
              <a:t>3/20</a:t>
            </a:r>
          </a:p>
        </p:txBody>
      </p:sp>
    </p:spTree>
    <p:extLst>
      <p:ext uri="{BB962C8B-B14F-4D97-AF65-F5344CB8AC3E}">
        <p14:creationId xmlns:p14="http://schemas.microsoft.com/office/powerpoint/2010/main" val="701173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4ED"/>
        </a:solidFill>
        <a:effectLst/>
      </p:bgPr>
    </p:bg>
    <p:spTree>
      <p:nvGrpSpPr>
        <p:cNvPr id="1" name="">
          <a:extLst>
            <a:ext uri="{FF2B5EF4-FFF2-40B4-BE49-F238E27FC236}">
              <a16:creationId xmlns:a16="http://schemas.microsoft.com/office/drawing/2014/main" id="{7A43BD0B-F994-819E-41C3-387881AACD6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9D1FBB2C-AD1A-E3DD-3BAF-665978BD7701}"/>
              </a:ext>
            </a:extLst>
          </p:cNvPr>
          <p:cNvSpPr txBox="1"/>
          <p:nvPr/>
        </p:nvSpPr>
        <p:spPr>
          <a:xfrm>
            <a:off x="1314450" y="654877"/>
            <a:ext cx="13696950" cy="1640577"/>
          </a:xfrm>
          <a:prstGeom prst="rect">
            <a:avLst/>
          </a:prstGeom>
        </p:spPr>
        <p:txBody>
          <a:bodyPr wrap="square" lIns="0" tIns="0" rIns="0" bIns="0" rtlCol="0" anchor="t">
            <a:spAutoFit/>
          </a:bodyPr>
          <a:lstStyle/>
          <a:p>
            <a:pPr algn="l">
              <a:lnSpc>
                <a:spcPts val="13439"/>
              </a:lnSpc>
            </a:pPr>
            <a:r>
              <a:rPr lang="en-US" sz="9600" b="1" dirty="0">
                <a:solidFill>
                  <a:srgbClr val="134074"/>
                </a:solidFill>
                <a:latin typeface="DM Sans Bold"/>
                <a:ea typeface="DM Sans Bold"/>
                <a:cs typeface="DM Sans Bold"/>
                <a:sym typeface="DM Sans Bold"/>
              </a:rPr>
              <a:t>Phạm vi </a:t>
            </a:r>
            <a:r>
              <a:rPr lang="en-US" sz="9600" b="1" dirty="0" err="1">
                <a:solidFill>
                  <a:srgbClr val="134074"/>
                </a:solidFill>
                <a:latin typeface="DM Sans Bold"/>
                <a:ea typeface="DM Sans Bold"/>
                <a:cs typeface="DM Sans Bold"/>
                <a:sym typeface="DM Sans Bold"/>
              </a:rPr>
              <a:t>nghiên</a:t>
            </a:r>
            <a:r>
              <a:rPr lang="en-US" sz="9600" b="1" dirty="0">
                <a:solidFill>
                  <a:srgbClr val="134074"/>
                </a:solidFill>
                <a:latin typeface="DM Sans Bold"/>
                <a:ea typeface="DM Sans Bold"/>
                <a:cs typeface="DM Sans Bold"/>
                <a:sym typeface="DM Sans Bold"/>
              </a:rPr>
              <a:t> </a:t>
            </a:r>
            <a:r>
              <a:rPr lang="en-US" sz="9600" b="1" dirty="0" err="1">
                <a:solidFill>
                  <a:srgbClr val="134074"/>
                </a:solidFill>
                <a:latin typeface="DM Sans Bold"/>
                <a:ea typeface="DM Sans Bold"/>
                <a:cs typeface="DM Sans Bold"/>
                <a:sym typeface="DM Sans Bold"/>
              </a:rPr>
              <a:t>cứu</a:t>
            </a:r>
            <a:endParaRPr lang="en-US" sz="9600" b="1" dirty="0">
              <a:solidFill>
                <a:srgbClr val="134074"/>
              </a:solidFill>
              <a:latin typeface="DM Sans Bold"/>
              <a:ea typeface="DM Sans Bold"/>
              <a:cs typeface="DM Sans Bold"/>
              <a:sym typeface="DM Sans Bold"/>
            </a:endParaRPr>
          </a:p>
        </p:txBody>
      </p:sp>
      <p:grpSp>
        <p:nvGrpSpPr>
          <p:cNvPr id="3" name="Group 3">
            <a:extLst>
              <a:ext uri="{FF2B5EF4-FFF2-40B4-BE49-F238E27FC236}">
                <a16:creationId xmlns:a16="http://schemas.microsoft.com/office/drawing/2014/main" id="{0589F158-B961-0AB6-D204-B9D3F14438BA}"/>
              </a:ext>
            </a:extLst>
          </p:cNvPr>
          <p:cNvGrpSpPr/>
          <p:nvPr/>
        </p:nvGrpSpPr>
        <p:grpSpPr>
          <a:xfrm>
            <a:off x="7063693" y="2247756"/>
            <a:ext cx="3377916" cy="177827"/>
            <a:chOff x="0" y="0"/>
            <a:chExt cx="889657" cy="46835"/>
          </a:xfrm>
        </p:grpSpPr>
        <p:sp>
          <p:nvSpPr>
            <p:cNvPr id="4" name="Freeform 4">
              <a:extLst>
                <a:ext uri="{FF2B5EF4-FFF2-40B4-BE49-F238E27FC236}">
                  <a16:creationId xmlns:a16="http://schemas.microsoft.com/office/drawing/2014/main" id="{240812EB-71BE-5DB6-8F5E-40D6709E18B8}"/>
                </a:ext>
              </a:extLst>
            </p:cNvPr>
            <p:cNvSpPr/>
            <p:nvPr/>
          </p:nvSpPr>
          <p:spPr>
            <a:xfrm>
              <a:off x="0" y="0"/>
              <a:ext cx="889657" cy="46835"/>
            </a:xfrm>
            <a:custGeom>
              <a:avLst/>
              <a:gdLst/>
              <a:ahLst/>
              <a:cxnLst/>
              <a:rect l="l" t="t" r="r" b="b"/>
              <a:pathLst>
                <a:path w="889657" h="46835">
                  <a:moveTo>
                    <a:pt x="0" y="0"/>
                  </a:moveTo>
                  <a:lnTo>
                    <a:pt x="889657" y="0"/>
                  </a:lnTo>
                  <a:lnTo>
                    <a:pt x="889657" y="46835"/>
                  </a:lnTo>
                  <a:lnTo>
                    <a:pt x="0" y="46835"/>
                  </a:lnTo>
                  <a:close/>
                </a:path>
              </a:pathLst>
            </a:custGeom>
            <a:solidFill>
              <a:srgbClr val="8DA9C4"/>
            </a:solidFill>
          </p:spPr>
          <p:txBody>
            <a:bodyPr/>
            <a:lstStyle/>
            <a:p>
              <a:endParaRPr lang="en-US"/>
            </a:p>
          </p:txBody>
        </p:sp>
        <p:sp>
          <p:nvSpPr>
            <p:cNvPr id="5" name="TextBox 5">
              <a:extLst>
                <a:ext uri="{FF2B5EF4-FFF2-40B4-BE49-F238E27FC236}">
                  <a16:creationId xmlns:a16="http://schemas.microsoft.com/office/drawing/2014/main" id="{9004B016-09EF-DB95-7A45-71EC0EF80813}"/>
                </a:ext>
              </a:extLst>
            </p:cNvPr>
            <p:cNvSpPr txBox="1"/>
            <p:nvPr/>
          </p:nvSpPr>
          <p:spPr>
            <a:xfrm>
              <a:off x="0" y="-38100"/>
              <a:ext cx="889657" cy="84935"/>
            </a:xfrm>
            <a:prstGeom prst="rect">
              <a:avLst/>
            </a:prstGeom>
          </p:spPr>
          <p:txBody>
            <a:bodyPr lIns="50800" tIns="50800" rIns="50800" bIns="50800" rtlCol="0" anchor="ctr"/>
            <a:lstStyle/>
            <a:p>
              <a:pPr algn="ctr">
                <a:lnSpc>
                  <a:spcPts val="2659"/>
                </a:lnSpc>
              </a:pPr>
              <a:endParaRPr/>
            </a:p>
          </p:txBody>
        </p:sp>
      </p:grpSp>
      <p:sp>
        <p:nvSpPr>
          <p:cNvPr id="6" name="Freeform 6">
            <a:extLst>
              <a:ext uri="{FF2B5EF4-FFF2-40B4-BE49-F238E27FC236}">
                <a16:creationId xmlns:a16="http://schemas.microsoft.com/office/drawing/2014/main" id="{15311682-C3CE-C3AD-9E8B-6388EC650C23}"/>
              </a:ext>
            </a:extLst>
          </p:cNvPr>
          <p:cNvSpPr/>
          <p:nvPr/>
        </p:nvSpPr>
        <p:spPr>
          <a:xfrm>
            <a:off x="15740086" y="8290868"/>
            <a:ext cx="4402996" cy="4114800"/>
          </a:xfrm>
          <a:custGeom>
            <a:avLst/>
            <a:gdLst/>
            <a:ahLst/>
            <a:cxnLst/>
            <a:rect l="l" t="t" r="r" b="b"/>
            <a:pathLst>
              <a:path w="4402996" h="4114800">
                <a:moveTo>
                  <a:pt x="0" y="0"/>
                </a:moveTo>
                <a:lnTo>
                  <a:pt x="4402996" y="0"/>
                </a:lnTo>
                <a:lnTo>
                  <a:pt x="440299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7" name="TextBox 7">
            <a:extLst>
              <a:ext uri="{FF2B5EF4-FFF2-40B4-BE49-F238E27FC236}">
                <a16:creationId xmlns:a16="http://schemas.microsoft.com/office/drawing/2014/main" id="{61C49D71-C352-02CB-24B7-25BCDBBAE4A4}"/>
              </a:ext>
            </a:extLst>
          </p:cNvPr>
          <p:cNvSpPr txBox="1"/>
          <p:nvPr/>
        </p:nvSpPr>
        <p:spPr>
          <a:xfrm>
            <a:off x="1314450" y="3509648"/>
            <a:ext cx="12096750" cy="3583994"/>
          </a:xfrm>
          <a:prstGeom prst="rect">
            <a:avLst/>
          </a:prstGeom>
        </p:spPr>
        <p:txBody>
          <a:bodyPr wrap="square" lIns="0" tIns="0" rIns="0" bIns="0" rtlCol="0" anchor="t">
            <a:spAutoFit/>
          </a:bodyPr>
          <a:lstStyle/>
          <a:p>
            <a:pPr marL="731464" lvl="1" indent="-365732" algn="l">
              <a:lnSpc>
                <a:spcPts val="4743"/>
              </a:lnSpc>
              <a:buFont typeface="Arial"/>
              <a:buChar char="•"/>
            </a:pPr>
            <a:r>
              <a:rPr lang="en-US" sz="3387" dirty="0">
                <a:solidFill>
                  <a:srgbClr val="134074"/>
                </a:solidFill>
                <a:latin typeface="DM Sans"/>
                <a:ea typeface="DM Sans"/>
                <a:cs typeface="DM Sans"/>
                <a:sym typeface="DM Sans"/>
              </a:rPr>
              <a:t>T</a:t>
            </a:r>
            <a:r>
              <a:rPr lang="vi-VN" sz="3387" dirty="0">
                <a:solidFill>
                  <a:srgbClr val="134074"/>
                </a:solidFill>
                <a:latin typeface="DM Sans"/>
                <a:ea typeface="DM Sans"/>
                <a:cs typeface="DM Sans"/>
                <a:sym typeface="DM Sans"/>
              </a:rPr>
              <a:t>ập trung vào lý thuyết và thực hành cơ bản của API và kiến trúc RESTful, bao gồm các khái niệm API–REST–HTTP, nguyên tắc thiết kế RESTful, HTTP methods và status codes, định dạng JSON</a:t>
            </a:r>
            <a:r>
              <a:rPr lang="en-US" sz="3387" dirty="0">
                <a:solidFill>
                  <a:srgbClr val="134074"/>
                </a:solidFill>
                <a:latin typeface="DM Sans"/>
                <a:ea typeface="DM Sans"/>
                <a:cs typeface="DM Sans"/>
                <a:sym typeface="DM Sans"/>
              </a:rPr>
              <a:t>. K</a:t>
            </a:r>
            <a:r>
              <a:rPr lang="vi-VN" sz="3387" dirty="0">
                <a:solidFill>
                  <a:srgbClr val="134074"/>
                </a:solidFill>
                <a:latin typeface="DM Sans"/>
                <a:ea typeface="DM Sans"/>
                <a:cs typeface="DM Sans"/>
                <a:sym typeface="DM Sans"/>
              </a:rPr>
              <a:t>hông đi sâu vào các kỹ thuật nâng cao như GraphQL, microservices, OAuth 2.0 chi tiết hay tối ưu hiệu năng quy mô lớn.</a:t>
            </a:r>
            <a:endParaRPr lang="en-US" sz="3387" dirty="0">
              <a:solidFill>
                <a:srgbClr val="134074"/>
              </a:solidFill>
              <a:latin typeface="DM Sans"/>
              <a:ea typeface="DM Sans"/>
              <a:cs typeface="DM Sans"/>
              <a:sym typeface="DM Sans"/>
            </a:endParaRPr>
          </a:p>
        </p:txBody>
      </p:sp>
      <p:sp>
        <p:nvSpPr>
          <p:cNvPr id="8" name="TextBox 8">
            <a:extLst>
              <a:ext uri="{FF2B5EF4-FFF2-40B4-BE49-F238E27FC236}">
                <a16:creationId xmlns:a16="http://schemas.microsoft.com/office/drawing/2014/main" id="{92DFFB6D-22A5-2476-CF94-76D2460A5B49}"/>
              </a:ext>
            </a:extLst>
          </p:cNvPr>
          <p:cNvSpPr txBox="1"/>
          <p:nvPr/>
        </p:nvSpPr>
        <p:spPr>
          <a:xfrm>
            <a:off x="8143262" y="9201150"/>
            <a:ext cx="924538" cy="481329"/>
          </a:xfrm>
          <a:prstGeom prst="rect">
            <a:avLst/>
          </a:prstGeom>
        </p:spPr>
        <p:txBody>
          <a:bodyPr wrap="square" lIns="0" tIns="0" rIns="0" bIns="0" rtlCol="0" anchor="t">
            <a:spAutoFit/>
          </a:bodyPr>
          <a:lstStyle/>
          <a:p>
            <a:pPr algn="ctr">
              <a:lnSpc>
                <a:spcPts val="3920"/>
              </a:lnSpc>
              <a:spcBef>
                <a:spcPct val="0"/>
              </a:spcBef>
            </a:pPr>
            <a:r>
              <a:rPr lang="en-US" sz="2800" dirty="0">
                <a:solidFill>
                  <a:srgbClr val="134074"/>
                </a:solidFill>
                <a:latin typeface="DM Sans"/>
                <a:ea typeface="DM Sans"/>
                <a:cs typeface="DM Sans"/>
                <a:sym typeface="DM Sans"/>
              </a:rPr>
              <a:t>3/20</a:t>
            </a:r>
          </a:p>
        </p:txBody>
      </p:sp>
    </p:spTree>
    <p:extLst>
      <p:ext uri="{BB962C8B-B14F-4D97-AF65-F5344CB8AC3E}">
        <p14:creationId xmlns:p14="http://schemas.microsoft.com/office/powerpoint/2010/main" val="911181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4ED"/>
        </a:solidFill>
        <a:effectLst/>
      </p:bgPr>
    </p:bg>
    <p:spTree>
      <p:nvGrpSpPr>
        <p:cNvPr id="1" name="">
          <a:extLst>
            <a:ext uri="{FF2B5EF4-FFF2-40B4-BE49-F238E27FC236}">
              <a16:creationId xmlns:a16="http://schemas.microsoft.com/office/drawing/2014/main" id="{F408E7E7-9579-D560-D3F5-A2799AD5F05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892BDDF-F347-E1F1-82D9-EEFEABDF7DED}"/>
              </a:ext>
            </a:extLst>
          </p:cNvPr>
          <p:cNvSpPr txBox="1"/>
          <p:nvPr/>
        </p:nvSpPr>
        <p:spPr>
          <a:xfrm>
            <a:off x="1314450" y="654877"/>
            <a:ext cx="13696950" cy="1640577"/>
          </a:xfrm>
          <a:prstGeom prst="rect">
            <a:avLst/>
          </a:prstGeom>
        </p:spPr>
        <p:txBody>
          <a:bodyPr wrap="square" lIns="0" tIns="0" rIns="0" bIns="0" rtlCol="0" anchor="t">
            <a:spAutoFit/>
          </a:bodyPr>
          <a:lstStyle/>
          <a:p>
            <a:pPr algn="l">
              <a:lnSpc>
                <a:spcPts val="13439"/>
              </a:lnSpc>
            </a:pPr>
            <a:r>
              <a:rPr lang="en-US" sz="9600" b="1" dirty="0">
                <a:solidFill>
                  <a:srgbClr val="134074"/>
                </a:solidFill>
                <a:latin typeface="DM Sans Bold"/>
                <a:ea typeface="DM Sans Bold"/>
                <a:cs typeface="DM Sans Bold"/>
                <a:sym typeface="DM Sans Bold"/>
              </a:rPr>
              <a:t>Phạm vi </a:t>
            </a:r>
            <a:r>
              <a:rPr lang="en-US" sz="9600" b="1" dirty="0" err="1">
                <a:solidFill>
                  <a:srgbClr val="134074"/>
                </a:solidFill>
                <a:latin typeface="DM Sans Bold"/>
                <a:ea typeface="DM Sans Bold"/>
                <a:cs typeface="DM Sans Bold"/>
                <a:sym typeface="DM Sans Bold"/>
              </a:rPr>
              <a:t>nghiên</a:t>
            </a:r>
            <a:r>
              <a:rPr lang="en-US" sz="9600" b="1" dirty="0">
                <a:solidFill>
                  <a:srgbClr val="134074"/>
                </a:solidFill>
                <a:latin typeface="DM Sans Bold"/>
                <a:ea typeface="DM Sans Bold"/>
                <a:cs typeface="DM Sans Bold"/>
                <a:sym typeface="DM Sans Bold"/>
              </a:rPr>
              <a:t> </a:t>
            </a:r>
            <a:r>
              <a:rPr lang="en-US" sz="9600" b="1" dirty="0" err="1">
                <a:solidFill>
                  <a:srgbClr val="134074"/>
                </a:solidFill>
                <a:latin typeface="DM Sans Bold"/>
                <a:ea typeface="DM Sans Bold"/>
                <a:cs typeface="DM Sans Bold"/>
                <a:sym typeface="DM Sans Bold"/>
              </a:rPr>
              <a:t>cứu</a:t>
            </a:r>
            <a:endParaRPr lang="en-US" sz="9600" b="1" dirty="0">
              <a:solidFill>
                <a:srgbClr val="134074"/>
              </a:solidFill>
              <a:latin typeface="DM Sans Bold"/>
              <a:ea typeface="DM Sans Bold"/>
              <a:cs typeface="DM Sans Bold"/>
              <a:sym typeface="DM Sans Bold"/>
            </a:endParaRPr>
          </a:p>
        </p:txBody>
      </p:sp>
      <p:grpSp>
        <p:nvGrpSpPr>
          <p:cNvPr id="3" name="Group 3">
            <a:extLst>
              <a:ext uri="{FF2B5EF4-FFF2-40B4-BE49-F238E27FC236}">
                <a16:creationId xmlns:a16="http://schemas.microsoft.com/office/drawing/2014/main" id="{E0BC8DF4-166E-EA37-8477-13EE58346AE4}"/>
              </a:ext>
            </a:extLst>
          </p:cNvPr>
          <p:cNvGrpSpPr/>
          <p:nvPr/>
        </p:nvGrpSpPr>
        <p:grpSpPr>
          <a:xfrm>
            <a:off x="7063693" y="2247756"/>
            <a:ext cx="3377916" cy="177827"/>
            <a:chOff x="0" y="0"/>
            <a:chExt cx="889657" cy="46835"/>
          </a:xfrm>
        </p:grpSpPr>
        <p:sp>
          <p:nvSpPr>
            <p:cNvPr id="4" name="Freeform 4">
              <a:extLst>
                <a:ext uri="{FF2B5EF4-FFF2-40B4-BE49-F238E27FC236}">
                  <a16:creationId xmlns:a16="http://schemas.microsoft.com/office/drawing/2014/main" id="{B03E1A80-C0FB-B0ED-D22D-F086EC5E08EA}"/>
                </a:ext>
              </a:extLst>
            </p:cNvPr>
            <p:cNvSpPr/>
            <p:nvPr/>
          </p:nvSpPr>
          <p:spPr>
            <a:xfrm>
              <a:off x="0" y="0"/>
              <a:ext cx="889657" cy="46835"/>
            </a:xfrm>
            <a:custGeom>
              <a:avLst/>
              <a:gdLst/>
              <a:ahLst/>
              <a:cxnLst/>
              <a:rect l="l" t="t" r="r" b="b"/>
              <a:pathLst>
                <a:path w="889657" h="46835">
                  <a:moveTo>
                    <a:pt x="0" y="0"/>
                  </a:moveTo>
                  <a:lnTo>
                    <a:pt x="889657" y="0"/>
                  </a:lnTo>
                  <a:lnTo>
                    <a:pt x="889657" y="46835"/>
                  </a:lnTo>
                  <a:lnTo>
                    <a:pt x="0" y="46835"/>
                  </a:lnTo>
                  <a:close/>
                </a:path>
              </a:pathLst>
            </a:custGeom>
            <a:solidFill>
              <a:srgbClr val="8DA9C4"/>
            </a:solidFill>
          </p:spPr>
          <p:txBody>
            <a:bodyPr/>
            <a:lstStyle/>
            <a:p>
              <a:endParaRPr lang="en-US"/>
            </a:p>
          </p:txBody>
        </p:sp>
        <p:sp>
          <p:nvSpPr>
            <p:cNvPr id="5" name="TextBox 5">
              <a:extLst>
                <a:ext uri="{FF2B5EF4-FFF2-40B4-BE49-F238E27FC236}">
                  <a16:creationId xmlns:a16="http://schemas.microsoft.com/office/drawing/2014/main" id="{6E8F2BE7-C683-4ECF-6334-DC046A4ED219}"/>
                </a:ext>
              </a:extLst>
            </p:cNvPr>
            <p:cNvSpPr txBox="1"/>
            <p:nvPr/>
          </p:nvSpPr>
          <p:spPr>
            <a:xfrm>
              <a:off x="0" y="-38100"/>
              <a:ext cx="889657" cy="84935"/>
            </a:xfrm>
            <a:prstGeom prst="rect">
              <a:avLst/>
            </a:prstGeom>
          </p:spPr>
          <p:txBody>
            <a:bodyPr lIns="50800" tIns="50800" rIns="50800" bIns="50800" rtlCol="0" anchor="ctr"/>
            <a:lstStyle/>
            <a:p>
              <a:pPr algn="ctr">
                <a:lnSpc>
                  <a:spcPts val="2659"/>
                </a:lnSpc>
              </a:pPr>
              <a:endParaRPr/>
            </a:p>
          </p:txBody>
        </p:sp>
      </p:grpSp>
      <p:sp>
        <p:nvSpPr>
          <p:cNvPr id="6" name="Freeform 6">
            <a:extLst>
              <a:ext uri="{FF2B5EF4-FFF2-40B4-BE49-F238E27FC236}">
                <a16:creationId xmlns:a16="http://schemas.microsoft.com/office/drawing/2014/main" id="{C2073D81-7B35-B9D8-313D-FE506E700A44}"/>
              </a:ext>
            </a:extLst>
          </p:cNvPr>
          <p:cNvSpPr/>
          <p:nvPr/>
        </p:nvSpPr>
        <p:spPr>
          <a:xfrm>
            <a:off x="15740086" y="8290868"/>
            <a:ext cx="4402996" cy="4114800"/>
          </a:xfrm>
          <a:custGeom>
            <a:avLst/>
            <a:gdLst/>
            <a:ahLst/>
            <a:cxnLst/>
            <a:rect l="l" t="t" r="r" b="b"/>
            <a:pathLst>
              <a:path w="4402996" h="4114800">
                <a:moveTo>
                  <a:pt x="0" y="0"/>
                </a:moveTo>
                <a:lnTo>
                  <a:pt x="4402996" y="0"/>
                </a:lnTo>
                <a:lnTo>
                  <a:pt x="440299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7" name="TextBox 7">
            <a:extLst>
              <a:ext uri="{FF2B5EF4-FFF2-40B4-BE49-F238E27FC236}">
                <a16:creationId xmlns:a16="http://schemas.microsoft.com/office/drawing/2014/main" id="{C66E9BAF-FC21-7964-07A5-71686A7DFF98}"/>
              </a:ext>
            </a:extLst>
          </p:cNvPr>
          <p:cNvSpPr txBox="1"/>
          <p:nvPr/>
        </p:nvSpPr>
        <p:spPr>
          <a:xfrm>
            <a:off x="1314450" y="3509648"/>
            <a:ext cx="12096750" cy="3583994"/>
          </a:xfrm>
          <a:prstGeom prst="rect">
            <a:avLst/>
          </a:prstGeom>
        </p:spPr>
        <p:txBody>
          <a:bodyPr wrap="square" lIns="0" tIns="0" rIns="0" bIns="0" rtlCol="0" anchor="t">
            <a:spAutoFit/>
          </a:bodyPr>
          <a:lstStyle/>
          <a:p>
            <a:pPr marL="731464" lvl="1" indent="-365732" algn="l">
              <a:lnSpc>
                <a:spcPts val="4743"/>
              </a:lnSpc>
              <a:buFont typeface="Arial"/>
              <a:buChar char="•"/>
            </a:pPr>
            <a:r>
              <a:rPr lang="en-US" sz="3387" dirty="0">
                <a:solidFill>
                  <a:srgbClr val="134074"/>
                </a:solidFill>
                <a:latin typeface="DM Sans"/>
                <a:ea typeface="DM Sans"/>
                <a:cs typeface="DM Sans"/>
                <a:sym typeface="DM Sans"/>
              </a:rPr>
              <a:t>N</a:t>
            </a:r>
            <a:r>
              <a:rPr lang="vi-VN" sz="3387" dirty="0">
                <a:solidFill>
                  <a:srgbClr val="134074"/>
                </a:solidFill>
                <a:latin typeface="DM Sans"/>
                <a:ea typeface="DM Sans"/>
                <a:cs typeface="DM Sans"/>
                <a:sym typeface="DM Sans"/>
              </a:rPr>
              <a:t>ghiên cứu tài liệu về API, RESTful, HTTP và JSON để xây dựng nền tảng lý thuyết. </a:t>
            </a:r>
            <a:r>
              <a:rPr lang="en-US" sz="3387" dirty="0">
                <a:solidFill>
                  <a:srgbClr val="134074"/>
                </a:solidFill>
                <a:latin typeface="DM Sans"/>
                <a:ea typeface="DM Sans"/>
                <a:cs typeface="DM Sans"/>
                <a:sym typeface="DM Sans"/>
              </a:rPr>
              <a:t>Á</a:t>
            </a:r>
            <a:r>
              <a:rPr lang="vi-VN" sz="3387" dirty="0">
                <a:solidFill>
                  <a:srgbClr val="134074"/>
                </a:solidFill>
                <a:latin typeface="DM Sans"/>
                <a:ea typeface="DM Sans"/>
                <a:cs typeface="DM Sans"/>
                <a:sym typeface="DM Sans"/>
              </a:rPr>
              <a:t>p dụng các nguyên lý RESTful để thiết kế và xây dựng API theo mô hình Client–Server bằng Node.js, Express và MongoDB. </a:t>
            </a:r>
            <a:r>
              <a:rPr lang="en-US" sz="3387" dirty="0">
                <a:solidFill>
                  <a:srgbClr val="134074"/>
                </a:solidFill>
                <a:latin typeface="DM Sans"/>
                <a:ea typeface="DM Sans"/>
                <a:cs typeface="DM Sans"/>
                <a:sym typeface="DM Sans"/>
              </a:rPr>
              <a:t>H</a:t>
            </a:r>
            <a:r>
              <a:rPr lang="vi-VN" sz="3387" dirty="0">
                <a:solidFill>
                  <a:srgbClr val="134074"/>
                </a:solidFill>
                <a:latin typeface="DM Sans"/>
                <a:ea typeface="DM Sans"/>
                <a:cs typeface="DM Sans"/>
                <a:sym typeface="DM Sans"/>
              </a:rPr>
              <a:t>ệ thống được kiểm thử bằng Postman nhằm đánh giá tính đúng đắn, nhất quán và hiệu quả của các API đã xây dựng.</a:t>
            </a:r>
            <a:endParaRPr lang="en-US" sz="3387" dirty="0">
              <a:solidFill>
                <a:srgbClr val="134074"/>
              </a:solidFill>
              <a:latin typeface="DM Sans"/>
              <a:ea typeface="DM Sans"/>
              <a:cs typeface="DM Sans"/>
              <a:sym typeface="DM Sans"/>
            </a:endParaRPr>
          </a:p>
        </p:txBody>
      </p:sp>
      <p:sp>
        <p:nvSpPr>
          <p:cNvPr id="8" name="TextBox 8">
            <a:extLst>
              <a:ext uri="{FF2B5EF4-FFF2-40B4-BE49-F238E27FC236}">
                <a16:creationId xmlns:a16="http://schemas.microsoft.com/office/drawing/2014/main" id="{12723112-06C6-3377-E586-A080A85646C1}"/>
              </a:ext>
            </a:extLst>
          </p:cNvPr>
          <p:cNvSpPr txBox="1"/>
          <p:nvPr/>
        </p:nvSpPr>
        <p:spPr>
          <a:xfrm>
            <a:off x="8143262" y="9201150"/>
            <a:ext cx="924538" cy="481329"/>
          </a:xfrm>
          <a:prstGeom prst="rect">
            <a:avLst/>
          </a:prstGeom>
        </p:spPr>
        <p:txBody>
          <a:bodyPr wrap="square" lIns="0" tIns="0" rIns="0" bIns="0" rtlCol="0" anchor="t">
            <a:spAutoFit/>
          </a:bodyPr>
          <a:lstStyle/>
          <a:p>
            <a:pPr algn="ctr">
              <a:lnSpc>
                <a:spcPts val="3920"/>
              </a:lnSpc>
              <a:spcBef>
                <a:spcPct val="0"/>
              </a:spcBef>
            </a:pPr>
            <a:r>
              <a:rPr lang="en-US" sz="2800" dirty="0">
                <a:solidFill>
                  <a:srgbClr val="134074"/>
                </a:solidFill>
                <a:latin typeface="DM Sans"/>
                <a:ea typeface="DM Sans"/>
                <a:cs typeface="DM Sans"/>
                <a:sym typeface="DM Sans"/>
              </a:rPr>
              <a:t>3/20</a:t>
            </a:r>
          </a:p>
        </p:txBody>
      </p:sp>
    </p:spTree>
    <p:extLst>
      <p:ext uri="{BB962C8B-B14F-4D97-AF65-F5344CB8AC3E}">
        <p14:creationId xmlns:p14="http://schemas.microsoft.com/office/powerpoint/2010/main" val="2563666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4ED"/>
        </a:solidFill>
        <a:effectLst/>
      </p:bgPr>
    </p:bg>
    <p:spTree>
      <p:nvGrpSpPr>
        <p:cNvPr id="1" name="">
          <a:extLst>
            <a:ext uri="{FF2B5EF4-FFF2-40B4-BE49-F238E27FC236}">
              <a16:creationId xmlns:a16="http://schemas.microsoft.com/office/drawing/2014/main" id="{AA5D214E-CA25-D034-B63C-48944C9DD3A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F2A620BF-291D-9DE6-8F81-F07C270DDBC1}"/>
              </a:ext>
            </a:extLst>
          </p:cNvPr>
          <p:cNvSpPr txBox="1"/>
          <p:nvPr/>
        </p:nvSpPr>
        <p:spPr>
          <a:xfrm>
            <a:off x="1314450" y="721552"/>
            <a:ext cx="7849357" cy="1019944"/>
          </a:xfrm>
          <a:prstGeom prst="rect">
            <a:avLst/>
          </a:prstGeom>
        </p:spPr>
        <p:txBody>
          <a:bodyPr wrap="square" lIns="0" tIns="0" rIns="0" bIns="0" rtlCol="0" anchor="t">
            <a:spAutoFit/>
          </a:bodyPr>
          <a:lstStyle/>
          <a:p>
            <a:pPr algn="l">
              <a:lnSpc>
                <a:spcPts val="8330"/>
              </a:lnSpc>
            </a:pPr>
            <a:r>
              <a:rPr lang="en-US" sz="5950" b="1" dirty="0">
                <a:solidFill>
                  <a:srgbClr val="134074"/>
                </a:solidFill>
                <a:latin typeface="DM Sans Bold"/>
                <a:ea typeface="DM Sans Bold"/>
                <a:cs typeface="DM Sans Bold"/>
                <a:sym typeface="DM Sans Bold"/>
              </a:rPr>
              <a:t>Công </a:t>
            </a:r>
            <a:r>
              <a:rPr lang="en-US" sz="5950" b="1" dirty="0" err="1">
                <a:solidFill>
                  <a:srgbClr val="134074"/>
                </a:solidFill>
                <a:latin typeface="DM Sans Bold"/>
                <a:ea typeface="DM Sans Bold"/>
                <a:cs typeface="DM Sans Bold"/>
                <a:sym typeface="DM Sans Bold"/>
              </a:rPr>
              <a:t>nghệ</a:t>
            </a:r>
            <a:r>
              <a:rPr lang="en-US" sz="5950" b="1" dirty="0">
                <a:solidFill>
                  <a:srgbClr val="134074"/>
                </a:solidFill>
                <a:latin typeface="DM Sans Bold"/>
                <a:ea typeface="DM Sans Bold"/>
                <a:cs typeface="DM Sans Bold"/>
                <a:sym typeface="DM Sans Bold"/>
              </a:rPr>
              <a:t> </a:t>
            </a:r>
            <a:r>
              <a:rPr lang="en-US" sz="5950" b="1" dirty="0" err="1">
                <a:solidFill>
                  <a:srgbClr val="134074"/>
                </a:solidFill>
                <a:latin typeface="DM Sans Bold"/>
                <a:ea typeface="DM Sans Bold"/>
                <a:cs typeface="DM Sans Bold"/>
                <a:sym typeface="DM Sans Bold"/>
              </a:rPr>
              <a:t>sử</a:t>
            </a:r>
            <a:r>
              <a:rPr lang="en-US" sz="5950" b="1" dirty="0">
                <a:solidFill>
                  <a:srgbClr val="134074"/>
                </a:solidFill>
                <a:latin typeface="DM Sans Bold"/>
                <a:ea typeface="DM Sans Bold"/>
                <a:cs typeface="DM Sans Bold"/>
                <a:sym typeface="DM Sans Bold"/>
              </a:rPr>
              <a:t> </a:t>
            </a:r>
            <a:r>
              <a:rPr lang="en-US" sz="5950" b="1" dirty="0" err="1">
                <a:solidFill>
                  <a:srgbClr val="134074"/>
                </a:solidFill>
                <a:latin typeface="DM Sans Bold"/>
                <a:ea typeface="DM Sans Bold"/>
                <a:cs typeface="DM Sans Bold"/>
                <a:sym typeface="DM Sans Bold"/>
              </a:rPr>
              <a:t>dụng</a:t>
            </a:r>
            <a:endParaRPr lang="en-US" sz="5950" b="1" dirty="0">
              <a:solidFill>
                <a:srgbClr val="134074"/>
              </a:solidFill>
              <a:latin typeface="DM Sans Bold"/>
              <a:ea typeface="DM Sans Bold"/>
              <a:cs typeface="DM Sans Bold"/>
              <a:sym typeface="DM Sans Bold"/>
            </a:endParaRPr>
          </a:p>
        </p:txBody>
      </p:sp>
      <p:grpSp>
        <p:nvGrpSpPr>
          <p:cNvPr id="3" name="Group 3">
            <a:extLst>
              <a:ext uri="{FF2B5EF4-FFF2-40B4-BE49-F238E27FC236}">
                <a16:creationId xmlns:a16="http://schemas.microsoft.com/office/drawing/2014/main" id="{4179D6E0-2B9D-0300-1BE8-14515A006D39}"/>
              </a:ext>
            </a:extLst>
          </p:cNvPr>
          <p:cNvGrpSpPr/>
          <p:nvPr/>
        </p:nvGrpSpPr>
        <p:grpSpPr>
          <a:xfrm>
            <a:off x="5158693" y="2247756"/>
            <a:ext cx="3377916" cy="177827"/>
            <a:chOff x="0" y="0"/>
            <a:chExt cx="889657" cy="46835"/>
          </a:xfrm>
        </p:grpSpPr>
        <p:sp>
          <p:nvSpPr>
            <p:cNvPr id="4" name="Freeform 4">
              <a:extLst>
                <a:ext uri="{FF2B5EF4-FFF2-40B4-BE49-F238E27FC236}">
                  <a16:creationId xmlns:a16="http://schemas.microsoft.com/office/drawing/2014/main" id="{F8E6D015-FB7A-B603-9F1C-65345174BD9C}"/>
                </a:ext>
              </a:extLst>
            </p:cNvPr>
            <p:cNvSpPr/>
            <p:nvPr/>
          </p:nvSpPr>
          <p:spPr>
            <a:xfrm>
              <a:off x="0" y="0"/>
              <a:ext cx="889657" cy="46835"/>
            </a:xfrm>
            <a:custGeom>
              <a:avLst/>
              <a:gdLst/>
              <a:ahLst/>
              <a:cxnLst/>
              <a:rect l="l" t="t" r="r" b="b"/>
              <a:pathLst>
                <a:path w="889657" h="46835">
                  <a:moveTo>
                    <a:pt x="0" y="0"/>
                  </a:moveTo>
                  <a:lnTo>
                    <a:pt x="889657" y="0"/>
                  </a:lnTo>
                  <a:lnTo>
                    <a:pt x="889657" y="46835"/>
                  </a:lnTo>
                  <a:lnTo>
                    <a:pt x="0" y="46835"/>
                  </a:lnTo>
                  <a:close/>
                </a:path>
              </a:pathLst>
            </a:custGeom>
            <a:solidFill>
              <a:srgbClr val="8DA9C4"/>
            </a:solidFill>
          </p:spPr>
          <p:txBody>
            <a:bodyPr/>
            <a:lstStyle/>
            <a:p>
              <a:endParaRPr lang="en-US"/>
            </a:p>
          </p:txBody>
        </p:sp>
        <p:sp>
          <p:nvSpPr>
            <p:cNvPr id="5" name="TextBox 5">
              <a:extLst>
                <a:ext uri="{FF2B5EF4-FFF2-40B4-BE49-F238E27FC236}">
                  <a16:creationId xmlns:a16="http://schemas.microsoft.com/office/drawing/2014/main" id="{43DE9002-A117-9A5D-A4A8-79C53E3FE8AD}"/>
                </a:ext>
              </a:extLst>
            </p:cNvPr>
            <p:cNvSpPr txBox="1"/>
            <p:nvPr/>
          </p:nvSpPr>
          <p:spPr>
            <a:xfrm>
              <a:off x="0" y="-38100"/>
              <a:ext cx="889657" cy="84935"/>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A030D1B9-4390-A3CF-2BFD-B47CD452C060}"/>
              </a:ext>
            </a:extLst>
          </p:cNvPr>
          <p:cNvSpPr txBox="1"/>
          <p:nvPr/>
        </p:nvSpPr>
        <p:spPr>
          <a:xfrm>
            <a:off x="981905" y="3238500"/>
            <a:ext cx="8353576" cy="4161267"/>
          </a:xfrm>
          <a:prstGeom prst="rect">
            <a:avLst/>
          </a:prstGeom>
        </p:spPr>
        <p:txBody>
          <a:bodyPr lIns="0" tIns="0" rIns="0" bIns="0" rtlCol="0" anchor="t">
            <a:spAutoFit/>
          </a:bodyPr>
          <a:lstStyle/>
          <a:p>
            <a:pPr marL="457200" indent="-457200" algn="l">
              <a:lnSpc>
                <a:spcPts val="5488"/>
              </a:lnSpc>
              <a:buFont typeface="Arial" panose="020B0604020202020204" pitchFamily="34" charset="0"/>
              <a:buChar char="•"/>
            </a:pPr>
            <a:r>
              <a:rPr lang="en-US" sz="3154" spc="107" dirty="0">
                <a:solidFill>
                  <a:srgbClr val="13315C"/>
                </a:solidFill>
                <a:latin typeface="Libre Baskerville"/>
                <a:ea typeface="Libre Baskerville"/>
                <a:cs typeface="Libre Baskerville"/>
                <a:sym typeface="Libre Baskerville"/>
              </a:rPr>
              <a:t>NodeJS</a:t>
            </a:r>
          </a:p>
          <a:p>
            <a:pPr marL="457200" indent="-457200" algn="l">
              <a:lnSpc>
                <a:spcPts val="5488"/>
              </a:lnSpc>
              <a:buFont typeface="Arial" panose="020B0604020202020204" pitchFamily="34" charset="0"/>
              <a:buChar char="•"/>
            </a:pPr>
            <a:r>
              <a:rPr lang="en-US" sz="3154" spc="107" dirty="0" err="1">
                <a:solidFill>
                  <a:srgbClr val="13315C"/>
                </a:solidFill>
                <a:latin typeface="Libre Baskerville"/>
                <a:ea typeface="Libre Baskerville"/>
                <a:cs typeface="Libre Baskerville"/>
                <a:sym typeface="Libre Baskerville"/>
              </a:rPr>
              <a:t>ExpressJS</a:t>
            </a:r>
            <a:endParaRPr lang="en-US" sz="3154" spc="107" dirty="0">
              <a:solidFill>
                <a:srgbClr val="13315C"/>
              </a:solidFill>
              <a:latin typeface="Libre Baskerville"/>
              <a:ea typeface="Libre Baskerville"/>
              <a:cs typeface="Libre Baskerville"/>
              <a:sym typeface="Libre Baskerville"/>
            </a:endParaRPr>
          </a:p>
          <a:p>
            <a:pPr marL="457200" indent="-457200" algn="l">
              <a:lnSpc>
                <a:spcPts val="5488"/>
              </a:lnSpc>
              <a:buFont typeface="Arial" panose="020B0604020202020204" pitchFamily="34" charset="0"/>
              <a:buChar char="•"/>
            </a:pPr>
            <a:r>
              <a:rPr lang="en-US" sz="3154" spc="107" dirty="0">
                <a:solidFill>
                  <a:srgbClr val="13315C"/>
                </a:solidFill>
                <a:latin typeface="Libre Baskerville"/>
                <a:ea typeface="Libre Baskerville"/>
                <a:cs typeface="Libre Baskerville"/>
                <a:sym typeface="Libre Baskerville"/>
              </a:rPr>
              <a:t>Mongoose</a:t>
            </a:r>
          </a:p>
          <a:p>
            <a:pPr marL="457200" indent="-457200" algn="l">
              <a:lnSpc>
                <a:spcPts val="5488"/>
              </a:lnSpc>
              <a:buFont typeface="Arial" panose="020B0604020202020204" pitchFamily="34" charset="0"/>
              <a:buChar char="•"/>
            </a:pPr>
            <a:r>
              <a:rPr lang="en-US" sz="3154" spc="107" dirty="0">
                <a:solidFill>
                  <a:srgbClr val="13315C"/>
                </a:solidFill>
                <a:latin typeface="Libre Baskerville"/>
                <a:ea typeface="Libre Baskerville"/>
                <a:cs typeface="Libre Baskerville"/>
                <a:sym typeface="Libre Baskerville"/>
              </a:rPr>
              <a:t>Postman</a:t>
            </a:r>
          </a:p>
          <a:p>
            <a:pPr marL="457200" indent="-457200" algn="l">
              <a:lnSpc>
                <a:spcPts val="5488"/>
              </a:lnSpc>
              <a:buFont typeface="Arial" panose="020B0604020202020204" pitchFamily="34" charset="0"/>
              <a:buChar char="•"/>
            </a:pPr>
            <a:r>
              <a:rPr lang="en-US" sz="3154" spc="107" dirty="0">
                <a:solidFill>
                  <a:srgbClr val="13315C"/>
                </a:solidFill>
                <a:latin typeface="Libre Baskerville"/>
                <a:ea typeface="Libre Baskerville"/>
                <a:cs typeface="Libre Baskerville"/>
                <a:sym typeface="Libre Baskerville"/>
              </a:rPr>
              <a:t>ReactJS</a:t>
            </a:r>
          </a:p>
          <a:p>
            <a:pPr algn="l">
              <a:lnSpc>
                <a:spcPts val="5488"/>
              </a:lnSpc>
            </a:pPr>
            <a:endParaRPr lang="en-US" sz="3154" spc="107" dirty="0">
              <a:solidFill>
                <a:srgbClr val="13315C"/>
              </a:solidFill>
              <a:latin typeface="Libre Baskerville"/>
              <a:ea typeface="Libre Baskerville"/>
              <a:cs typeface="Libre Baskerville"/>
              <a:sym typeface="Libre Baskerville"/>
            </a:endParaRPr>
          </a:p>
        </p:txBody>
      </p:sp>
      <p:sp>
        <p:nvSpPr>
          <p:cNvPr id="9" name="TextBox 9">
            <a:extLst>
              <a:ext uri="{FF2B5EF4-FFF2-40B4-BE49-F238E27FC236}">
                <a16:creationId xmlns:a16="http://schemas.microsoft.com/office/drawing/2014/main" id="{91633A53-11B3-D56E-C79B-5CE6FD559972}"/>
              </a:ext>
            </a:extLst>
          </p:cNvPr>
          <p:cNvSpPr txBox="1"/>
          <p:nvPr/>
        </p:nvSpPr>
        <p:spPr>
          <a:xfrm>
            <a:off x="8137044" y="9201150"/>
            <a:ext cx="1006955" cy="481329"/>
          </a:xfrm>
          <a:prstGeom prst="rect">
            <a:avLst/>
          </a:prstGeom>
        </p:spPr>
        <p:txBody>
          <a:bodyPr wrap="square" lIns="0" tIns="0" rIns="0" bIns="0" rtlCol="0" anchor="t">
            <a:spAutoFit/>
          </a:bodyPr>
          <a:lstStyle/>
          <a:p>
            <a:pPr algn="ctr">
              <a:lnSpc>
                <a:spcPts val="3920"/>
              </a:lnSpc>
              <a:spcBef>
                <a:spcPct val="0"/>
              </a:spcBef>
            </a:pPr>
            <a:r>
              <a:rPr lang="en-US" sz="2800" dirty="0">
                <a:solidFill>
                  <a:srgbClr val="134074"/>
                </a:solidFill>
                <a:latin typeface="DM Sans"/>
                <a:ea typeface="DM Sans"/>
                <a:cs typeface="DM Sans"/>
                <a:sym typeface="DM Sans"/>
              </a:rPr>
              <a:t>8/20</a:t>
            </a:r>
          </a:p>
        </p:txBody>
      </p:sp>
    </p:spTree>
    <p:extLst>
      <p:ext uri="{BB962C8B-B14F-4D97-AF65-F5344CB8AC3E}">
        <p14:creationId xmlns:p14="http://schemas.microsoft.com/office/powerpoint/2010/main" val="2921940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F4ED"/>
        </a:solidFill>
        <a:effectLst/>
      </p:bgPr>
    </p:bg>
    <p:spTree>
      <p:nvGrpSpPr>
        <p:cNvPr id="1" name=""/>
        <p:cNvGrpSpPr/>
        <p:nvPr/>
      </p:nvGrpSpPr>
      <p:grpSpPr>
        <a:xfrm>
          <a:off x="0" y="0"/>
          <a:ext cx="0" cy="0"/>
          <a:chOff x="0" y="0"/>
          <a:chExt cx="0" cy="0"/>
        </a:xfrm>
      </p:grpSpPr>
      <p:sp>
        <p:nvSpPr>
          <p:cNvPr id="2" name="TextBox 2"/>
          <p:cNvSpPr txBox="1"/>
          <p:nvPr/>
        </p:nvSpPr>
        <p:spPr>
          <a:xfrm>
            <a:off x="1314450" y="721552"/>
            <a:ext cx="7222160" cy="1019944"/>
          </a:xfrm>
          <a:prstGeom prst="rect">
            <a:avLst/>
          </a:prstGeom>
        </p:spPr>
        <p:txBody>
          <a:bodyPr lIns="0" tIns="0" rIns="0" bIns="0" rtlCol="0" anchor="t">
            <a:spAutoFit/>
          </a:bodyPr>
          <a:lstStyle/>
          <a:p>
            <a:pPr algn="l">
              <a:lnSpc>
                <a:spcPts val="8330"/>
              </a:lnSpc>
            </a:pPr>
            <a:r>
              <a:rPr lang="en-US" sz="5950" b="1">
                <a:solidFill>
                  <a:srgbClr val="134074"/>
                </a:solidFill>
                <a:latin typeface="DM Sans Bold"/>
                <a:ea typeface="DM Sans Bold"/>
                <a:cs typeface="DM Sans Bold"/>
                <a:sym typeface="DM Sans Bold"/>
              </a:rPr>
              <a:t>Tổng quan hệ thống</a:t>
            </a:r>
          </a:p>
        </p:txBody>
      </p:sp>
      <p:grpSp>
        <p:nvGrpSpPr>
          <p:cNvPr id="3" name="Group 3"/>
          <p:cNvGrpSpPr/>
          <p:nvPr/>
        </p:nvGrpSpPr>
        <p:grpSpPr>
          <a:xfrm>
            <a:off x="5158693" y="2247756"/>
            <a:ext cx="3377916" cy="177827"/>
            <a:chOff x="0" y="0"/>
            <a:chExt cx="889657" cy="46835"/>
          </a:xfrm>
        </p:grpSpPr>
        <p:sp>
          <p:nvSpPr>
            <p:cNvPr id="4" name="Freeform 4"/>
            <p:cNvSpPr/>
            <p:nvPr/>
          </p:nvSpPr>
          <p:spPr>
            <a:xfrm>
              <a:off x="0" y="0"/>
              <a:ext cx="889657" cy="46835"/>
            </a:xfrm>
            <a:custGeom>
              <a:avLst/>
              <a:gdLst/>
              <a:ahLst/>
              <a:cxnLst/>
              <a:rect l="l" t="t" r="r" b="b"/>
              <a:pathLst>
                <a:path w="889657" h="46835">
                  <a:moveTo>
                    <a:pt x="0" y="0"/>
                  </a:moveTo>
                  <a:lnTo>
                    <a:pt x="889657" y="0"/>
                  </a:lnTo>
                  <a:lnTo>
                    <a:pt x="889657" y="46835"/>
                  </a:lnTo>
                  <a:lnTo>
                    <a:pt x="0" y="46835"/>
                  </a:lnTo>
                  <a:close/>
                </a:path>
              </a:pathLst>
            </a:custGeom>
            <a:solidFill>
              <a:srgbClr val="8DA9C4"/>
            </a:solidFill>
          </p:spPr>
          <p:txBody>
            <a:bodyPr/>
            <a:lstStyle/>
            <a:p>
              <a:endParaRPr lang="en-US"/>
            </a:p>
          </p:txBody>
        </p:sp>
        <p:sp>
          <p:nvSpPr>
            <p:cNvPr id="5" name="TextBox 5"/>
            <p:cNvSpPr txBox="1"/>
            <p:nvPr/>
          </p:nvSpPr>
          <p:spPr>
            <a:xfrm>
              <a:off x="0" y="-38100"/>
              <a:ext cx="889657" cy="8493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702584" y="2930409"/>
            <a:ext cx="7829550" cy="782955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4074"/>
            </a:solidFill>
            <a:ln cap="sq">
              <a:noFill/>
              <a:prstDash val="solid"/>
              <a:miter/>
            </a:ln>
          </p:spPr>
          <p:txBody>
            <a:bodyPr/>
            <a:lstStyle/>
            <a:p>
              <a:endParaRPr lang="en-US"/>
            </a:p>
          </p:txBody>
        </p:sp>
        <p:sp>
          <p:nvSpPr>
            <p:cNvPr id="8" name="TextBox 8"/>
            <p:cNvSpPr txBox="1"/>
            <p:nvPr/>
          </p:nvSpPr>
          <p:spPr>
            <a:xfrm>
              <a:off x="76200" y="-9525"/>
              <a:ext cx="660400" cy="746125"/>
            </a:xfrm>
            <a:prstGeom prst="rect">
              <a:avLst/>
            </a:prstGeom>
          </p:spPr>
          <p:txBody>
            <a:bodyPr lIns="50800" tIns="50800" rIns="50800" bIns="50800" rtlCol="0" anchor="ctr"/>
            <a:lstStyle/>
            <a:p>
              <a:pPr marL="0" lvl="0" indent="0" algn="ctr">
                <a:lnSpc>
                  <a:spcPts val="2594"/>
                </a:lnSpc>
                <a:spcBef>
                  <a:spcPct val="0"/>
                </a:spcBef>
              </a:pPr>
              <a:endParaRPr/>
            </a:p>
          </p:txBody>
        </p:sp>
      </p:grpSp>
      <p:grpSp>
        <p:nvGrpSpPr>
          <p:cNvPr id="9" name="Group 9"/>
          <p:cNvGrpSpPr/>
          <p:nvPr/>
        </p:nvGrpSpPr>
        <p:grpSpPr>
          <a:xfrm>
            <a:off x="1740233" y="5005706"/>
            <a:ext cx="5754252" cy="575425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9C4"/>
            </a:solidFill>
            <a:ln cap="sq">
              <a:noFill/>
              <a:prstDash val="solid"/>
              <a:miter/>
            </a:ln>
          </p:spPr>
          <p:txBody>
            <a:bodyPr/>
            <a:lstStyle/>
            <a:p>
              <a:endParaRPr lang="en-US"/>
            </a:p>
          </p:txBody>
        </p:sp>
        <p:sp>
          <p:nvSpPr>
            <p:cNvPr id="11" name="TextBox 11"/>
            <p:cNvSpPr txBox="1"/>
            <p:nvPr/>
          </p:nvSpPr>
          <p:spPr>
            <a:xfrm>
              <a:off x="76200" y="-9525"/>
              <a:ext cx="660400" cy="746125"/>
            </a:xfrm>
            <a:prstGeom prst="rect">
              <a:avLst/>
            </a:prstGeom>
          </p:spPr>
          <p:txBody>
            <a:bodyPr lIns="50800" tIns="50800" rIns="50800" bIns="50800" rtlCol="0" anchor="ctr"/>
            <a:lstStyle/>
            <a:p>
              <a:pPr marL="0" lvl="0" indent="0" algn="ctr">
                <a:lnSpc>
                  <a:spcPts val="2594"/>
                </a:lnSpc>
                <a:spcBef>
                  <a:spcPct val="0"/>
                </a:spcBef>
              </a:pPr>
              <a:endParaRPr/>
            </a:p>
          </p:txBody>
        </p:sp>
      </p:grpSp>
      <p:grpSp>
        <p:nvGrpSpPr>
          <p:cNvPr id="12" name="Group 12"/>
          <p:cNvGrpSpPr/>
          <p:nvPr/>
        </p:nvGrpSpPr>
        <p:grpSpPr>
          <a:xfrm>
            <a:off x="2777881" y="7081004"/>
            <a:ext cx="3678955" cy="367895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4074"/>
            </a:solidFill>
            <a:ln cap="sq">
              <a:noFill/>
              <a:prstDash val="solid"/>
              <a:miter/>
            </a:ln>
          </p:spPr>
          <p:txBody>
            <a:bodyPr/>
            <a:lstStyle/>
            <a:p>
              <a:endParaRPr lang="en-US"/>
            </a:p>
          </p:txBody>
        </p:sp>
        <p:sp>
          <p:nvSpPr>
            <p:cNvPr id="14" name="TextBox 14"/>
            <p:cNvSpPr txBox="1"/>
            <p:nvPr/>
          </p:nvSpPr>
          <p:spPr>
            <a:xfrm>
              <a:off x="76200" y="-9525"/>
              <a:ext cx="660400" cy="746125"/>
            </a:xfrm>
            <a:prstGeom prst="rect">
              <a:avLst/>
            </a:prstGeom>
          </p:spPr>
          <p:txBody>
            <a:bodyPr lIns="50800" tIns="50800" rIns="50800" bIns="50800" rtlCol="0" anchor="ctr"/>
            <a:lstStyle/>
            <a:p>
              <a:pPr algn="ctr">
                <a:lnSpc>
                  <a:spcPts val="2594"/>
                </a:lnSpc>
              </a:pPr>
              <a:endParaRPr/>
            </a:p>
          </p:txBody>
        </p:sp>
      </p:grpSp>
      <p:sp>
        <p:nvSpPr>
          <p:cNvPr id="15" name="TextBox 15"/>
          <p:cNvSpPr txBox="1"/>
          <p:nvPr/>
        </p:nvSpPr>
        <p:spPr>
          <a:xfrm>
            <a:off x="3678705" y="8168801"/>
            <a:ext cx="1877308" cy="787246"/>
          </a:xfrm>
          <a:prstGeom prst="rect">
            <a:avLst/>
          </a:prstGeom>
        </p:spPr>
        <p:txBody>
          <a:bodyPr lIns="0" tIns="0" rIns="0" bIns="0" rtlCol="0" anchor="t">
            <a:spAutoFit/>
          </a:bodyPr>
          <a:lstStyle/>
          <a:p>
            <a:pPr algn="ctr">
              <a:lnSpc>
                <a:spcPts val="6483"/>
              </a:lnSpc>
              <a:spcBef>
                <a:spcPct val="0"/>
              </a:spcBef>
            </a:pPr>
            <a:r>
              <a:rPr lang="en-US" sz="4631">
                <a:solidFill>
                  <a:srgbClr val="FFFFFF"/>
                </a:solidFill>
                <a:latin typeface="DM Sans"/>
                <a:ea typeface="DM Sans"/>
                <a:cs typeface="DM Sans"/>
                <a:sym typeface="DM Sans"/>
              </a:rPr>
              <a:t>200 M</a:t>
            </a:r>
          </a:p>
        </p:txBody>
      </p:sp>
      <p:sp>
        <p:nvSpPr>
          <p:cNvPr id="16" name="TextBox 16"/>
          <p:cNvSpPr txBox="1"/>
          <p:nvPr/>
        </p:nvSpPr>
        <p:spPr>
          <a:xfrm>
            <a:off x="3678705" y="5839322"/>
            <a:ext cx="1877308" cy="787246"/>
          </a:xfrm>
          <a:prstGeom prst="rect">
            <a:avLst/>
          </a:prstGeom>
        </p:spPr>
        <p:txBody>
          <a:bodyPr lIns="0" tIns="0" rIns="0" bIns="0" rtlCol="0" anchor="t">
            <a:spAutoFit/>
          </a:bodyPr>
          <a:lstStyle/>
          <a:p>
            <a:pPr algn="ctr">
              <a:lnSpc>
                <a:spcPts val="6483"/>
              </a:lnSpc>
              <a:spcBef>
                <a:spcPct val="0"/>
              </a:spcBef>
            </a:pPr>
            <a:r>
              <a:rPr lang="en-US" sz="4631">
                <a:solidFill>
                  <a:srgbClr val="FFFFFF"/>
                </a:solidFill>
                <a:latin typeface="DM Sans"/>
                <a:ea typeface="DM Sans"/>
                <a:cs typeface="DM Sans"/>
                <a:sym typeface="DM Sans"/>
              </a:rPr>
              <a:t>3.5 B</a:t>
            </a:r>
          </a:p>
        </p:txBody>
      </p:sp>
      <p:sp>
        <p:nvSpPr>
          <p:cNvPr id="17" name="TextBox 17"/>
          <p:cNvSpPr txBox="1"/>
          <p:nvPr/>
        </p:nvSpPr>
        <p:spPr>
          <a:xfrm>
            <a:off x="3678705" y="3506101"/>
            <a:ext cx="1877308" cy="787246"/>
          </a:xfrm>
          <a:prstGeom prst="rect">
            <a:avLst/>
          </a:prstGeom>
        </p:spPr>
        <p:txBody>
          <a:bodyPr lIns="0" tIns="0" rIns="0" bIns="0" rtlCol="0" anchor="t">
            <a:spAutoFit/>
          </a:bodyPr>
          <a:lstStyle/>
          <a:p>
            <a:pPr algn="ctr">
              <a:lnSpc>
                <a:spcPts val="6483"/>
              </a:lnSpc>
              <a:spcBef>
                <a:spcPct val="0"/>
              </a:spcBef>
            </a:pPr>
            <a:r>
              <a:rPr lang="en-US" sz="4631">
                <a:solidFill>
                  <a:srgbClr val="FFFFFF"/>
                </a:solidFill>
                <a:latin typeface="DM Sans"/>
                <a:ea typeface="DM Sans"/>
                <a:cs typeface="DM Sans"/>
                <a:sym typeface="DM Sans"/>
              </a:rPr>
              <a:t>12 B</a:t>
            </a:r>
          </a:p>
        </p:txBody>
      </p:sp>
      <p:sp>
        <p:nvSpPr>
          <p:cNvPr id="18" name="TextBox 18"/>
          <p:cNvSpPr txBox="1"/>
          <p:nvPr/>
        </p:nvSpPr>
        <p:spPr>
          <a:xfrm>
            <a:off x="9427773" y="1737162"/>
            <a:ext cx="8405151" cy="7291736"/>
          </a:xfrm>
          <a:prstGeom prst="rect">
            <a:avLst/>
          </a:prstGeom>
        </p:spPr>
        <p:txBody>
          <a:bodyPr lIns="0" tIns="0" rIns="0" bIns="0" rtlCol="0" anchor="t">
            <a:spAutoFit/>
          </a:bodyPr>
          <a:lstStyle/>
          <a:p>
            <a:pPr algn="just">
              <a:lnSpc>
                <a:spcPts val="4443"/>
              </a:lnSpc>
            </a:pPr>
            <a:r>
              <a:rPr lang="en-US" sz="3173" dirty="0" err="1">
                <a:solidFill>
                  <a:srgbClr val="134074"/>
                </a:solidFill>
                <a:latin typeface="Libre Baskerville"/>
                <a:ea typeface="Libre Baskerville"/>
                <a:cs typeface="Libre Baskerville"/>
                <a:sym typeface="Libre Baskerville"/>
              </a:rPr>
              <a:t>Hệ</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thống</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được</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xây</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dựng</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xoay</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quanh</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các</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thực</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thể</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chính</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gồm</a:t>
            </a:r>
            <a:r>
              <a:rPr lang="en-US" sz="3173" dirty="0">
                <a:solidFill>
                  <a:srgbClr val="134074"/>
                </a:solidFill>
                <a:latin typeface="Libre Baskerville"/>
                <a:ea typeface="Libre Baskerville"/>
                <a:cs typeface="Libre Baskerville"/>
                <a:sym typeface="Libre Baskerville"/>
              </a:rPr>
              <a:t>:</a:t>
            </a:r>
          </a:p>
          <a:p>
            <a:pPr marL="685216" lvl="1" indent="-342608" algn="just">
              <a:lnSpc>
                <a:spcPts val="4443"/>
              </a:lnSpc>
              <a:buFont typeface="Arial"/>
              <a:buChar char="•"/>
            </a:pP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sinh</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viên</a:t>
            </a:r>
            <a:endParaRPr lang="en-US" sz="3173" dirty="0">
              <a:solidFill>
                <a:srgbClr val="134074"/>
              </a:solidFill>
              <a:latin typeface="Libre Baskerville"/>
              <a:ea typeface="Libre Baskerville"/>
              <a:cs typeface="Libre Baskerville"/>
              <a:sym typeface="Libre Baskerville"/>
            </a:endParaRPr>
          </a:p>
          <a:p>
            <a:pPr marL="685216" lvl="1" indent="-342608" algn="just">
              <a:lnSpc>
                <a:spcPts val="4443"/>
              </a:lnSpc>
              <a:buFont typeface="Arial"/>
              <a:buChar char="•"/>
            </a:pP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lớp</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học</a:t>
            </a:r>
            <a:endParaRPr lang="en-US" sz="3173" dirty="0">
              <a:solidFill>
                <a:srgbClr val="134074"/>
              </a:solidFill>
              <a:latin typeface="Libre Baskerville"/>
              <a:ea typeface="Libre Baskerville"/>
              <a:cs typeface="Libre Baskerville"/>
              <a:sym typeface="Libre Baskerville"/>
            </a:endParaRPr>
          </a:p>
          <a:p>
            <a:pPr marL="685216" lvl="1" indent="-342608" algn="just">
              <a:lnSpc>
                <a:spcPts val="4443"/>
              </a:lnSpc>
              <a:buFont typeface="Arial"/>
              <a:buChar char="•"/>
            </a:pP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ngành</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học</a:t>
            </a:r>
            <a:endParaRPr lang="en-US" sz="3173" dirty="0">
              <a:solidFill>
                <a:srgbClr val="134074"/>
              </a:solidFill>
              <a:latin typeface="Libre Baskerville"/>
              <a:ea typeface="Libre Baskerville"/>
              <a:cs typeface="Libre Baskerville"/>
              <a:sym typeface="Libre Baskerville"/>
            </a:endParaRPr>
          </a:p>
          <a:p>
            <a:pPr marL="685216" lvl="1" indent="-342608" algn="just">
              <a:lnSpc>
                <a:spcPts val="4443"/>
              </a:lnSpc>
              <a:buFont typeface="Arial"/>
              <a:buChar char="•"/>
            </a:pP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môn</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học</a:t>
            </a:r>
            <a:endParaRPr lang="en-US" sz="3173" dirty="0">
              <a:solidFill>
                <a:srgbClr val="134074"/>
              </a:solidFill>
              <a:latin typeface="Libre Baskerville"/>
              <a:ea typeface="Libre Baskerville"/>
              <a:cs typeface="Libre Baskerville"/>
              <a:sym typeface="Libre Baskerville"/>
            </a:endParaRPr>
          </a:p>
          <a:p>
            <a:pPr marL="685216" lvl="1" indent="-342608" algn="just">
              <a:lnSpc>
                <a:spcPts val="4443"/>
              </a:lnSpc>
              <a:buFont typeface="Arial"/>
              <a:buChar char="•"/>
            </a:pP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điểm</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số</a:t>
            </a:r>
            <a:r>
              <a:rPr lang="en-US" sz="3173" dirty="0">
                <a:solidFill>
                  <a:srgbClr val="134074"/>
                </a:solidFill>
                <a:latin typeface="Libre Baskerville"/>
                <a:ea typeface="Libre Baskerville"/>
                <a:cs typeface="Libre Baskerville"/>
                <a:sym typeface="Libre Baskerville"/>
              </a:rPr>
              <a:t>. </a:t>
            </a:r>
          </a:p>
          <a:p>
            <a:pPr algn="just">
              <a:lnSpc>
                <a:spcPts val="4443"/>
              </a:lnSpc>
            </a:pPr>
            <a:r>
              <a:rPr lang="en-US" sz="3173" dirty="0" err="1">
                <a:solidFill>
                  <a:srgbClr val="134074"/>
                </a:solidFill>
                <a:latin typeface="Libre Baskerville"/>
                <a:ea typeface="Libre Baskerville"/>
                <a:cs typeface="Libre Baskerville"/>
                <a:sym typeface="Libre Baskerville"/>
              </a:rPr>
              <a:t>Mỗi</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thực</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thể</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được</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quản</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lý</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độc</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lập</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nhưng</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có</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liên</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kết</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chặt</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chẽ</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với</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nhau</a:t>
            </a:r>
            <a:r>
              <a:rPr lang="en-US" sz="3173" dirty="0">
                <a:solidFill>
                  <a:srgbClr val="134074"/>
                </a:solidFill>
                <a:latin typeface="Libre Baskerville"/>
                <a:ea typeface="Libre Baskerville"/>
                <a:cs typeface="Libre Baskerville"/>
                <a:sym typeface="Libre Baskerville"/>
              </a:rPr>
              <a:t> </a:t>
            </a:r>
            <a:r>
              <a:rPr lang="en-US" sz="3173" dirty="0" err="1">
                <a:solidFill>
                  <a:srgbClr val="134074"/>
                </a:solidFill>
                <a:latin typeface="Libre Baskerville"/>
                <a:ea typeface="Libre Baskerville"/>
                <a:cs typeface="Libre Baskerville"/>
                <a:sym typeface="Libre Baskerville"/>
              </a:rPr>
              <a:t>thông</a:t>
            </a:r>
            <a:r>
              <a:rPr lang="en-US" sz="3173" dirty="0">
                <a:solidFill>
                  <a:srgbClr val="134074"/>
                </a:solidFill>
                <a:latin typeface="Libre Baskerville"/>
                <a:ea typeface="Libre Baskerville"/>
                <a:cs typeface="Libre Baskerville"/>
                <a:sym typeface="Libre Baskerville"/>
              </a:rPr>
              <a:t> qua API. </a:t>
            </a:r>
          </a:p>
          <a:p>
            <a:pPr algn="just">
              <a:lnSpc>
                <a:spcPts val="4443"/>
              </a:lnSpc>
            </a:pPr>
            <a:endParaRPr lang="en-US" sz="3173" dirty="0">
              <a:solidFill>
                <a:srgbClr val="134074"/>
              </a:solidFill>
              <a:latin typeface="Libre Baskerville"/>
              <a:ea typeface="Libre Baskerville"/>
              <a:cs typeface="Libre Baskerville"/>
              <a:sym typeface="Libre Baskerville"/>
            </a:endParaRPr>
          </a:p>
          <a:p>
            <a:pPr algn="just">
              <a:lnSpc>
                <a:spcPts val="4443"/>
              </a:lnSpc>
            </a:pPr>
            <a:endParaRPr lang="en-US" sz="3173" dirty="0">
              <a:solidFill>
                <a:srgbClr val="134074"/>
              </a:solidFill>
              <a:latin typeface="Libre Baskerville"/>
              <a:ea typeface="Libre Baskerville"/>
              <a:cs typeface="Libre Baskerville"/>
              <a:sym typeface="Libre Baskerville"/>
            </a:endParaRPr>
          </a:p>
          <a:p>
            <a:pPr algn="just">
              <a:lnSpc>
                <a:spcPts val="4443"/>
              </a:lnSpc>
            </a:pPr>
            <a:endParaRPr lang="en-US" sz="3173" dirty="0">
              <a:solidFill>
                <a:srgbClr val="134074"/>
              </a:solidFill>
              <a:latin typeface="Libre Baskerville"/>
              <a:ea typeface="Libre Baskerville"/>
              <a:cs typeface="Libre Baskerville"/>
              <a:sym typeface="Libre Baskerville"/>
            </a:endParaRPr>
          </a:p>
        </p:txBody>
      </p:sp>
      <p:sp>
        <p:nvSpPr>
          <p:cNvPr id="19" name="TextBox 19"/>
          <p:cNvSpPr txBox="1"/>
          <p:nvPr/>
        </p:nvSpPr>
        <p:spPr>
          <a:xfrm>
            <a:off x="8135986" y="9201150"/>
            <a:ext cx="1130168" cy="481329"/>
          </a:xfrm>
          <a:prstGeom prst="rect">
            <a:avLst/>
          </a:prstGeom>
        </p:spPr>
        <p:txBody>
          <a:bodyPr wrap="square" lIns="0" tIns="0" rIns="0" bIns="0" rtlCol="0" anchor="t">
            <a:spAutoFit/>
          </a:bodyPr>
          <a:lstStyle/>
          <a:p>
            <a:pPr algn="ctr">
              <a:lnSpc>
                <a:spcPts val="3920"/>
              </a:lnSpc>
              <a:spcBef>
                <a:spcPct val="0"/>
              </a:spcBef>
            </a:pPr>
            <a:r>
              <a:rPr lang="en-US" sz="2800" dirty="0">
                <a:solidFill>
                  <a:srgbClr val="134074"/>
                </a:solidFill>
                <a:latin typeface="DM Sans"/>
                <a:ea typeface="DM Sans"/>
                <a:cs typeface="DM Sans"/>
                <a:sym typeface="DM Sans"/>
              </a:rPr>
              <a:t>5/20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4ED"/>
        </a:solidFill>
        <a:effectLst/>
      </p:bgPr>
    </p:bg>
    <p:spTree>
      <p:nvGrpSpPr>
        <p:cNvPr id="1" name=""/>
        <p:cNvGrpSpPr/>
        <p:nvPr/>
      </p:nvGrpSpPr>
      <p:grpSpPr>
        <a:xfrm>
          <a:off x="0" y="0"/>
          <a:ext cx="0" cy="0"/>
          <a:chOff x="0" y="0"/>
          <a:chExt cx="0" cy="0"/>
        </a:xfrm>
      </p:grpSpPr>
      <p:grpSp>
        <p:nvGrpSpPr>
          <p:cNvPr id="2" name="Group 2"/>
          <p:cNvGrpSpPr/>
          <p:nvPr/>
        </p:nvGrpSpPr>
        <p:grpSpPr>
          <a:xfrm>
            <a:off x="7218926" y="2089833"/>
            <a:ext cx="3377916" cy="177827"/>
            <a:chOff x="0" y="0"/>
            <a:chExt cx="889657" cy="46835"/>
          </a:xfrm>
        </p:grpSpPr>
        <p:sp>
          <p:nvSpPr>
            <p:cNvPr id="3" name="Freeform 3"/>
            <p:cNvSpPr/>
            <p:nvPr/>
          </p:nvSpPr>
          <p:spPr>
            <a:xfrm>
              <a:off x="0" y="0"/>
              <a:ext cx="889657" cy="46835"/>
            </a:xfrm>
            <a:custGeom>
              <a:avLst/>
              <a:gdLst/>
              <a:ahLst/>
              <a:cxnLst/>
              <a:rect l="l" t="t" r="r" b="b"/>
              <a:pathLst>
                <a:path w="889657" h="46835">
                  <a:moveTo>
                    <a:pt x="0" y="0"/>
                  </a:moveTo>
                  <a:lnTo>
                    <a:pt x="889657" y="0"/>
                  </a:lnTo>
                  <a:lnTo>
                    <a:pt x="889657" y="46835"/>
                  </a:lnTo>
                  <a:lnTo>
                    <a:pt x="0" y="46835"/>
                  </a:lnTo>
                  <a:close/>
                </a:path>
              </a:pathLst>
            </a:custGeom>
            <a:solidFill>
              <a:srgbClr val="8DA9C4"/>
            </a:solidFill>
          </p:spPr>
          <p:txBody>
            <a:bodyPr/>
            <a:lstStyle/>
            <a:p>
              <a:endParaRPr lang="en-US"/>
            </a:p>
          </p:txBody>
        </p:sp>
        <p:sp>
          <p:nvSpPr>
            <p:cNvPr id="4" name="TextBox 4"/>
            <p:cNvSpPr txBox="1"/>
            <p:nvPr/>
          </p:nvSpPr>
          <p:spPr>
            <a:xfrm>
              <a:off x="0" y="-38100"/>
              <a:ext cx="889657" cy="8493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10800000">
            <a:off x="-1523774" y="-2387259"/>
            <a:ext cx="4402996" cy="4114800"/>
          </a:xfrm>
          <a:custGeom>
            <a:avLst/>
            <a:gdLst/>
            <a:ahLst/>
            <a:cxnLst/>
            <a:rect l="l" t="t" r="r" b="b"/>
            <a:pathLst>
              <a:path w="4402996" h="4114800">
                <a:moveTo>
                  <a:pt x="0" y="0"/>
                </a:moveTo>
                <a:lnTo>
                  <a:pt x="4402996" y="0"/>
                </a:lnTo>
                <a:lnTo>
                  <a:pt x="440299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6" name="Freeform 6"/>
          <p:cNvSpPr/>
          <p:nvPr/>
        </p:nvSpPr>
        <p:spPr>
          <a:xfrm>
            <a:off x="236116" y="3012390"/>
            <a:ext cx="8907884" cy="4668438"/>
          </a:xfrm>
          <a:custGeom>
            <a:avLst/>
            <a:gdLst/>
            <a:ahLst/>
            <a:cxnLst/>
            <a:rect l="l" t="t" r="r" b="b"/>
            <a:pathLst>
              <a:path w="8907884" h="4668438">
                <a:moveTo>
                  <a:pt x="0" y="0"/>
                </a:moveTo>
                <a:lnTo>
                  <a:pt x="8907884" y="0"/>
                </a:lnTo>
                <a:lnTo>
                  <a:pt x="8907884" y="4668438"/>
                </a:lnTo>
                <a:lnTo>
                  <a:pt x="0" y="4668438"/>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4630644" y="911769"/>
            <a:ext cx="9026713" cy="986887"/>
          </a:xfrm>
          <a:prstGeom prst="rect">
            <a:avLst/>
          </a:prstGeom>
        </p:spPr>
        <p:txBody>
          <a:bodyPr lIns="0" tIns="0" rIns="0" bIns="0" rtlCol="0" anchor="t">
            <a:spAutoFit/>
          </a:bodyPr>
          <a:lstStyle/>
          <a:p>
            <a:pPr algn="ctr">
              <a:lnSpc>
                <a:spcPts val="7475"/>
              </a:lnSpc>
            </a:pPr>
            <a:r>
              <a:rPr lang="en-US" sz="7475" b="1">
                <a:solidFill>
                  <a:srgbClr val="134074"/>
                </a:solidFill>
                <a:latin typeface="DM Sans Bold"/>
                <a:ea typeface="DM Sans Bold"/>
                <a:cs typeface="DM Sans Bold"/>
                <a:sym typeface="DM Sans Bold"/>
              </a:rPr>
              <a:t>Kiến trúc tổng thế</a:t>
            </a:r>
          </a:p>
        </p:txBody>
      </p:sp>
      <p:sp>
        <p:nvSpPr>
          <p:cNvPr id="8" name="TextBox 8"/>
          <p:cNvSpPr txBox="1"/>
          <p:nvPr/>
        </p:nvSpPr>
        <p:spPr>
          <a:xfrm>
            <a:off x="9844804" y="2702916"/>
            <a:ext cx="7858441" cy="6424929"/>
          </a:xfrm>
          <a:prstGeom prst="rect">
            <a:avLst/>
          </a:prstGeom>
        </p:spPr>
        <p:txBody>
          <a:bodyPr lIns="0" tIns="0" rIns="0" bIns="0" rtlCol="0" anchor="t">
            <a:spAutoFit/>
          </a:bodyPr>
          <a:lstStyle/>
          <a:p>
            <a:pPr marL="604531" lvl="1" indent="-302265" algn="just">
              <a:lnSpc>
                <a:spcPts val="3920"/>
              </a:lnSpc>
              <a:buFont typeface="Arial"/>
              <a:buChar char="•"/>
            </a:pPr>
            <a:r>
              <a:rPr lang="en-US" sz="2800">
                <a:solidFill>
                  <a:srgbClr val="134074"/>
                </a:solidFill>
                <a:latin typeface="DM Sans"/>
                <a:ea typeface="DM Sans"/>
                <a:cs typeface="DM Sans"/>
                <a:sym typeface="DM Sans"/>
              </a:rPr>
              <a:t>Xây dựng theo mô hình Client – Server</a:t>
            </a:r>
          </a:p>
          <a:p>
            <a:pPr marL="604531" lvl="1" indent="-302265" algn="just">
              <a:lnSpc>
                <a:spcPts val="3920"/>
              </a:lnSpc>
              <a:buFont typeface="Arial"/>
              <a:buChar char="•"/>
            </a:pPr>
            <a:r>
              <a:rPr lang="en-US" sz="2800">
                <a:solidFill>
                  <a:srgbClr val="134074"/>
                </a:solidFill>
                <a:latin typeface="DM Sans"/>
                <a:ea typeface="DM Sans"/>
                <a:cs typeface="DM Sans"/>
                <a:sym typeface="DM Sans"/>
              </a:rPr>
              <a:t>Phía Client sử dụng ReactJS để xây dựng giao diện và gửi các yêu cầu HTTP đến Backend.</a:t>
            </a:r>
          </a:p>
          <a:p>
            <a:pPr marL="604531" lvl="1" indent="-302265" algn="just">
              <a:lnSpc>
                <a:spcPts val="3920"/>
              </a:lnSpc>
              <a:buFont typeface="Arial"/>
              <a:buChar char="•"/>
            </a:pPr>
            <a:r>
              <a:rPr lang="en-US" sz="2800">
                <a:solidFill>
                  <a:srgbClr val="134074"/>
                </a:solidFill>
                <a:latin typeface="DM Sans"/>
                <a:ea typeface="DM Sans"/>
                <a:cs typeface="DM Sans"/>
                <a:sym typeface="DM Sans"/>
              </a:rPr>
              <a:t>Backend được phát triển bằng NodeJS kết hợp Express, kiểm tra dữ liệu và giao tiếp với cơ sở dữ liệu MongoDB.</a:t>
            </a:r>
          </a:p>
          <a:p>
            <a:pPr marL="604531" lvl="1" indent="-302265" algn="just">
              <a:lnSpc>
                <a:spcPts val="3920"/>
              </a:lnSpc>
              <a:buFont typeface="Arial"/>
              <a:buChar char="•"/>
            </a:pPr>
            <a:r>
              <a:rPr lang="en-US" sz="2800">
                <a:solidFill>
                  <a:srgbClr val="134074"/>
                </a:solidFill>
                <a:latin typeface="DM Sans"/>
                <a:ea typeface="DM Sans"/>
                <a:cs typeface="DM Sans"/>
                <a:sym typeface="DM Sans"/>
              </a:rPr>
              <a:t>Dữ liệu giữa Client và Server được trao đổi thông qua các RESTful API dưới dạng JSON.</a:t>
            </a:r>
          </a:p>
          <a:p>
            <a:pPr marL="604531" lvl="1" indent="-302265" algn="just">
              <a:lnSpc>
                <a:spcPts val="3920"/>
              </a:lnSpc>
              <a:buFont typeface="Arial"/>
              <a:buChar char="•"/>
            </a:pPr>
            <a:r>
              <a:rPr lang="en-US" sz="2800">
                <a:solidFill>
                  <a:srgbClr val="134074"/>
                </a:solidFill>
                <a:latin typeface="DM Sans"/>
                <a:ea typeface="DM Sans"/>
                <a:cs typeface="DM Sans"/>
                <a:sym typeface="DM Sans"/>
              </a:rPr>
              <a:t> Luồng xử lý bắt đầu từ Client gửi request, Server tiếp nhận và xử lý, truy vấn hoặc cập nhật Database, sau đó trả response về lại cho Client để hiển thị kết quả.</a:t>
            </a:r>
          </a:p>
        </p:txBody>
      </p:sp>
      <p:sp>
        <p:nvSpPr>
          <p:cNvPr id="9" name="TextBox 9"/>
          <p:cNvSpPr txBox="1"/>
          <p:nvPr/>
        </p:nvSpPr>
        <p:spPr>
          <a:xfrm>
            <a:off x="8134332" y="9201150"/>
            <a:ext cx="1009667" cy="481329"/>
          </a:xfrm>
          <a:prstGeom prst="rect">
            <a:avLst/>
          </a:prstGeom>
        </p:spPr>
        <p:txBody>
          <a:bodyPr wrap="square" lIns="0" tIns="0" rIns="0" bIns="0" rtlCol="0" anchor="t">
            <a:spAutoFit/>
          </a:bodyPr>
          <a:lstStyle/>
          <a:p>
            <a:pPr algn="ctr">
              <a:lnSpc>
                <a:spcPts val="3920"/>
              </a:lnSpc>
              <a:spcBef>
                <a:spcPct val="0"/>
              </a:spcBef>
            </a:pPr>
            <a:r>
              <a:rPr lang="en-US" sz="2800" dirty="0">
                <a:solidFill>
                  <a:srgbClr val="134074"/>
                </a:solidFill>
                <a:latin typeface="DM Sans"/>
                <a:ea typeface="DM Sans"/>
                <a:cs typeface="DM Sans"/>
                <a:sym typeface="DM Sans"/>
              </a:rPr>
              <a:t>6/20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4ED"/>
        </a:solidFill>
        <a:effectLst/>
      </p:bgPr>
    </p:bg>
    <p:spTree>
      <p:nvGrpSpPr>
        <p:cNvPr id="1" name=""/>
        <p:cNvGrpSpPr/>
        <p:nvPr/>
      </p:nvGrpSpPr>
      <p:grpSpPr>
        <a:xfrm>
          <a:off x="0" y="0"/>
          <a:ext cx="0" cy="0"/>
          <a:chOff x="0" y="0"/>
          <a:chExt cx="0" cy="0"/>
        </a:xfrm>
      </p:grpSpPr>
      <p:sp>
        <p:nvSpPr>
          <p:cNvPr id="2" name="TextBox 2"/>
          <p:cNvSpPr txBox="1"/>
          <p:nvPr/>
        </p:nvSpPr>
        <p:spPr>
          <a:xfrm>
            <a:off x="1314450" y="721552"/>
            <a:ext cx="4944520" cy="1019944"/>
          </a:xfrm>
          <a:prstGeom prst="rect">
            <a:avLst/>
          </a:prstGeom>
        </p:spPr>
        <p:txBody>
          <a:bodyPr lIns="0" tIns="0" rIns="0" bIns="0" rtlCol="0" anchor="t">
            <a:spAutoFit/>
          </a:bodyPr>
          <a:lstStyle/>
          <a:p>
            <a:pPr algn="l">
              <a:lnSpc>
                <a:spcPts val="8330"/>
              </a:lnSpc>
            </a:pPr>
            <a:r>
              <a:rPr lang="en-US" sz="5950" b="1">
                <a:solidFill>
                  <a:srgbClr val="134074"/>
                </a:solidFill>
                <a:latin typeface="DM Sans Bold"/>
                <a:ea typeface="DM Sans Bold"/>
                <a:cs typeface="DM Sans Bold"/>
                <a:sym typeface="DM Sans Bold"/>
              </a:rPr>
              <a:t>Khái niệm API</a:t>
            </a:r>
          </a:p>
        </p:txBody>
      </p:sp>
      <p:grpSp>
        <p:nvGrpSpPr>
          <p:cNvPr id="3" name="Group 3"/>
          <p:cNvGrpSpPr/>
          <p:nvPr/>
        </p:nvGrpSpPr>
        <p:grpSpPr>
          <a:xfrm>
            <a:off x="5158693" y="2247756"/>
            <a:ext cx="3377916" cy="177827"/>
            <a:chOff x="0" y="0"/>
            <a:chExt cx="889657" cy="46835"/>
          </a:xfrm>
        </p:grpSpPr>
        <p:sp>
          <p:nvSpPr>
            <p:cNvPr id="4" name="Freeform 4"/>
            <p:cNvSpPr/>
            <p:nvPr/>
          </p:nvSpPr>
          <p:spPr>
            <a:xfrm>
              <a:off x="0" y="0"/>
              <a:ext cx="889657" cy="46835"/>
            </a:xfrm>
            <a:custGeom>
              <a:avLst/>
              <a:gdLst/>
              <a:ahLst/>
              <a:cxnLst/>
              <a:rect l="l" t="t" r="r" b="b"/>
              <a:pathLst>
                <a:path w="889657" h="46835">
                  <a:moveTo>
                    <a:pt x="0" y="0"/>
                  </a:moveTo>
                  <a:lnTo>
                    <a:pt x="889657" y="0"/>
                  </a:lnTo>
                  <a:lnTo>
                    <a:pt x="889657" y="46835"/>
                  </a:lnTo>
                  <a:lnTo>
                    <a:pt x="0" y="46835"/>
                  </a:lnTo>
                  <a:close/>
                </a:path>
              </a:pathLst>
            </a:custGeom>
            <a:solidFill>
              <a:srgbClr val="8DA9C4"/>
            </a:solidFill>
          </p:spPr>
          <p:txBody>
            <a:bodyPr/>
            <a:lstStyle/>
            <a:p>
              <a:endParaRPr lang="en-US"/>
            </a:p>
          </p:txBody>
        </p:sp>
        <p:sp>
          <p:nvSpPr>
            <p:cNvPr id="5" name="TextBox 5"/>
            <p:cNvSpPr txBox="1"/>
            <p:nvPr/>
          </p:nvSpPr>
          <p:spPr>
            <a:xfrm>
              <a:off x="0" y="-38100"/>
              <a:ext cx="889657" cy="84935"/>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9144000" y="2908026"/>
            <a:ext cx="8353576" cy="6203529"/>
          </a:xfrm>
          <a:prstGeom prst="rect">
            <a:avLst/>
          </a:prstGeom>
        </p:spPr>
        <p:txBody>
          <a:bodyPr lIns="0" tIns="0" rIns="0" bIns="0" rtlCol="0" anchor="t">
            <a:spAutoFit/>
          </a:bodyPr>
          <a:lstStyle/>
          <a:p>
            <a:pPr algn="l">
              <a:lnSpc>
                <a:spcPts val="5488"/>
              </a:lnSpc>
            </a:pPr>
            <a:r>
              <a:rPr lang="en-US" sz="3154" spc="107">
                <a:solidFill>
                  <a:srgbClr val="13315C"/>
                </a:solidFill>
                <a:latin typeface="Libre Baskerville"/>
                <a:ea typeface="Libre Baskerville"/>
                <a:cs typeface="Libre Baskerville"/>
                <a:sym typeface="Libre Baskerville"/>
              </a:rPr>
              <a:t>API là giao diện cho phép các ứng dụng giao tiếp và trao đổi dữ liệu với nhau. Trong mô hình web, Client không làm việc trực tiếp với cơ sở dữ liệu mà gửi yêu cầu thông qua API. API đóng vai trò trung gian, tiếp nhận request từ Client, xử lý nghiệp vụ cần thiết và trả kết quả về dưới dạng dữ liệu phù hợp.</a:t>
            </a:r>
          </a:p>
        </p:txBody>
      </p:sp>
      <p:grpSp>
        <p:nvGrpSpPr>
          <p:cNvPr id="7" name="Group 7"/>
          <p:cNvGrpSpPr/>
          <p:nvPr/>
        </p:nvGrpSpPr>
        <p:grpSpPr>
          <a:xfrm>
            <a:off x="1314450" y="3674931"/>
            <a:ext cx="6366664" cy="3757033"/>
            <a:chOff x="0" y="0"/>
            <a:chExt cx="967334" cy="570833"/>
          </a:xfrm>
        </p:grpSpPr>
        <p:sp>
          <p:nvSpPr>
            <p:cNvPr id="8" name="Freeform 8"/>
            <p:cNvSpPr/>
            <p:nvPr/>
          </p:nvSpPr>
          <p:spPr>
            <a:xfrm>
              <a:off x="0" y="0"/>
              <a:ext cx="967334" cy="570833"/>
            </a:xfrm>
            <a:custGeom>
              <a:avLst/>
              <a:gdLst/>
              <a:ahLst/>
              <a:cxnLst/>
              <a:rect l="l" t="t" r="r" b="b"/>
              <a:pathLst>
                <a:path w="967334" h="570833">
                  <a:moveTo>
                    <a:pt x="48640" y="0"/>
                  </a:moveTo>
                  <a:lnTo>
                    <a:pt x="918693" y="0"/>
                  </a:lnTo>
                  <a:cubicBezTo>
                    <a:pt x="931593" y="0"/>
                    <a:pt x="943965" y="5125"/>
                    <a:pt x="953087" y="14246"/>
                  </a:cubicBezTo>
                  <a:cubicBezTo>
                    <a:pt x="962209" y="23368"/>
                    <a:pt x="967334" y="35740"/>
                    <a:pt x="967334" y="48640"/>
                  </a:cubicBezTo>
                  <a:lnTo>
                    <a:pt x="967334" y="522193"/>
                  </a:lnTo>
                  <a:cubicBezTo>
                    <a:pt x="967334" y="549056"/>
                    <a:pt x="945557" y="570833"/>
                    <a:pt x="918693" y="570833"/>
                  </a:cubicBezTo>
                  <a:lnTo>
                    <a:pt x="48640" y="570833"/>
                  </a:lnTo>
                  <a:cubicBezTo>
                    <a:pt x="35740" y="570833"/>
                    <a:pt x="23368" y="565709"/>
                    <a:pt x="14246" y="556587"/>
                  </a:cubicBezTo>
                  <a:cubicBezTo>
                    <a:pt x="5125" y="547465"/>
                    <a:pt x="0" y="535093"/>
                    <a:pt x="0" y="522193"/>
                  </a:cubicBezTo>
                  <a:lnTo>
                    <a:pt x="0" y="48640"/>
                  </a:lnTo>
                  <a:cubicBezTo>
                    <a:pt x="0" y="35740"/>
                    <a:pt x="5125" y="23368"/>
                    <a:pt x="14246" y="14246"/>
                  </a:cubicBezTo>
                  <a:cubicBezTo>
                    <a:pt x="23368" y="5125"/>
                    <a:pt x="35740" y="0"/>
                    <a:pt x="48640" y="0"/>
                  </a:cubicBezTo>
                  <a:close/>
                </a:path>
              </a:pathLst>
            </a:custGeom>
            <a:blipFill>
              <a:blip r:embed="rId2"/>
              <a:stretch>
                <a:fillRect l="-6388" r="-6388"/>
              </a:stretch>
            </a:blipFill>
            <a:ln w="66675" cap="rnd">
              <a:solidFill>
                <a:srgbClr val="FFFFFF"/>
              </a:solidFill>
              <a:prstDash val="solid"/>
              <a:round/>
            </a:ln>
          </p:spPr>
          <p:txBody>
            <a:bodyPr/>
            <a:lstStyle/>
            <a:p>
              <a:endParaRPr lang="en-US"/>
            </a:p>
          </p:txBody>
        </p:sp>
      </p:grpSp>
      <p:sp>
        <p:nvSpPr>
          <p:cNvPr id="9" name="TextBox 9"/>
          <p:cNvSpPr txBox="1"/>
          <p:nvPr/>
        </p:nvSpPr>
        <p:spPr>
          <a:xfrm>
            <a:off x="8160130" y="9201150"/>
            <a:ext cx="1060070" cy="481329"/>
          </a:xfrm>
          <a:prstGeom prst="rect">
            <a:avLst/>
          </a:prstGeom>
        </p:spPr>
        <p:txBody>
          <a:bodyPr wrap="square" lIns="0" tIns="0" rIns="0" bIns="0" rtlCol="0" anchor="t">
            <a:spAutoFit/>
          </a:bodyPr>
          <a:lstStyle/>
          <a:p>
            <a:pPr algn="ctr">
              <a:lnSpc>
                <a:spcPts val="3920"/>
              </a:lnSpc>
              <a:spcBef>
                <a:spcPct val="0"/>
              </a:spcBef>
            </a:pPr>
            <a:r>
              <a:rPr lang="en-US" sz="2800" dirty="0">
                <a:solidFill>
                  <a:srgbClr val="134074"/>
                </a:solidFill>
                <a:latin typeface="DM Sans"/>
                <a:ea typeface="DM Sans"/>
                <a:cs typeface="DM Sans"/>
                <a:sym typeface="DM Sans"/>
              </a:rPr>
              <a:t>7/20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F4ED"/>
        </a:solidFill>
        <a:effectLst/>
      </p:bgPr>
    </p:bg>
    <p:spTree>
      <p:nvGrpSpPr>
        <p:cNvPr id="1" name=""/>
        <p:cNvGrpSpPr/>
        <p:nvPr/>
      </p:nvGrpSpPr>
      <p:grpSpPr>
        <a:xfrm>
          <a:off x="0" y="0"/>
          <a:ext cx="0" cy="0"/>
          <a:chOff x="0" y="0"/>
          <a:chExt cx="0" cy="0"/>
        </a:xfrm>
      </p:grpSpPr>
      <p:sp>
        <p:nvSpPr>
          <p:cNvPr id="2" name="TextBox 2"/>
          <p:cNvSpPr txBox="1"/>
          <p:nvPr/>
        </p:nvSpPr>
        <p:spPr>
          <a:xfrm>
            <a:off x="1314450" y="721552"/>
            <a:ext cx="7849357" cy="1019944"/>
          </a:xfrm>
          <a:prstGeom prst="rect">
            <a:avLst/>
          </a:prstGeom>
        </p:spPr>
        <p:txBody>
          <a:bodyPr lIns="0" tIns="0" rIns="0" bIns="0" rtlCol="0" anchor="t">
            <a:spAutoFit/>
          </a:bodyPr>
          <a:lstStyle/>
          <a:p>
            <a:pPr algn="l">
              <a:lnSpc>
                <a:spcPts val="8330"/>
              </a:lnSpc>
            </a:pPr>
            <a:r>
              <a:rPr lang="en-US" sz="5950" b="1">
                <a:solidFill>
                  <a:srgbClr val="134074"/>
                </a:solidFill>
                <a:latin typeface="DM Sans Bold"/>
                <a:ea typeface="DM Sans Bold"/>
                <a:cs typeface="DM Sans Bold"/>
                <a:sym typeface="DM Sans Bold"/>
              </a:rPr>
              <a:t>Khái niệm RESTful API</a:t>
            </a:r>
          </a:p>
        </p:txBody>
      </p:sp>
      <p:grpSp>
        <p:nvGrpSpPr>
          <p:cNvPr id="3" name="Group 3"/>
          <p:cNvGrpSpPr/>
          <p:nvPr/>
        </p:nvGrpSpPr>
        <p:grpSpPr>
          <a:xfrm>
            <a:off x="5158693" y="2247756"/>
            <a:ext cx="3377916" cy="177827"/>
            <a:chOff x="0" y="0"/>
            <a:chExt cx="889657" cy="46835"/>
          </a:xfrm>
        </p:grpSpPr>
        <p:sp>
          <p:nvSpPr>
            <p:cNvPr id="4" name="Freeform 4"/>
            <p:cNvSpPr/>
            <p:nvPr/>
          </p:nvSpPr>
          <p:spPr>
            <a:xfrm>
              <a:off x="0" y="0"/>
              <a:ext cx="889657" cy="46835"/>
            </a:xfrm>
            <a:custGeom>
              <a:avLst/>
              <a:gdLst/>
              <a:ahLst/>
              <a:cxnLst/>
              <a:rect l="l" t="t" r="r" b="b"/>
              <a:pathLst>
                <a:path w="889657" h="46835">
                  <a:moveTo>
                    <a:pt x="0" y="0"/>
                  </a:moveTo>
                  <a:lnTo>
                    <a:pt x="889657" y="0"/>
                  </a:lnTo>
                  <a:lnTo>
                    <a:pt x="889657" y="46835"/>
                  </a:lnTo>
                  <a:lnTo>
                    <a:pt x="0" y="46835"/>
                  </a:lnTo>
                  <a:close/>
                </a:path>
              </a:pathLst>
            </a:custGeom>
            <a:solidFill>
              <a:srgbClr val="8DA9C4"/>
            </a:solidFill>
          </p:spPr>
          <p:txBody>
            <a:bodyPr/>
            <a:lstStyle/>
            <a:p>
              <a:endParaRPr lang="en-US"/>
            </a:p>
          </p:txBody>
        </p:sp>
        <p:sp>
          <p:nvSpPr>
            <p:cNvPr id="5" name="TextBox 5"/>
            <p:cNvSpPr txBox="1"/>
            <p:nvPr/>
          </p:nvSpPr>
          <p:spPr>
            <a:xfrm>
              <a:off x="0" y="-38100"/>
              <a:ext cx="889657" cy="84935"/>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9144000" y="2908026"/>
            <a:ext cx="8353576" cy="6203529"/>
          </a:xfrm>
          <a:prstGeom prst="rect">
            <a:avLst/>
          </a:prstGeom>
        </p:spPr>
        <p:txBody>
          <a:bodyPr lIns="0" tIns="0" rIns="0" bIns="0" rtlCol="0" anchor="t">
            <a:spAutoFit/>
          </a:bodyPr>
          <a:lstStyle/>
          <a:p>
            <a:pPr algn="l">
              <a:lnSpc>
                <a:spcPts val="5488"/>
              </a:lnSpc>
            </a:pPr>
            <a:r>
              <a:rPr lang="en-US" sz="3154" spc="107">
                <a:solidFill>
                  <a:srgbClr val="13315C"/>
                </a:solidFill>
                <a:latin typeface="Libre Baskerville"/>
                <a:ea typeface="Libre Baskerville"/>
                <a:cs typeface="Libre Baskerville"/>
                <a:sym typeface="Libre Baskerville"/>
              </a:rPr>
              <a:t>RESTful API là API được thiết kế theo kiến trúc REST. Kiến trúc này dựa trên giao thức HTTP và quy định cách tổ chức tài nguyên cũng như cách Client và Server giao tiếp. RESTful API hoạt động theo nguyên tắc stateless, nghĩa là mỗi request được xử lý độc lập và không phụ thuộc vào các request trước đó.</a:t>
            </a:r>
          </a:p>
        </p:txBody>
      </p:sp>
      <p:grpSp>
        <p:nvGrpSpPr>
          <p:cNvPr id="7" name="Group 7"/>
          <p:cNvGrpSpPr/>
          <p:nvPr/>
        </p:nvGrpSpPr>
        <p:grpSpPr>
          <a:xfrm>
            <a:off x="1314450" y="3646547"/>
            <a:ext cx="6366664" cy="3757033"/>
            <a:chOff x="0" y="0"/>
            <a:chExt cx="967334" cy="570833"/>
          </a:xfrm>
        </p:grpSpPr>
        <p:sp>
          <p:nvSpPr>
            <p:cNvPr id="8" name="Freeform 8"/>
            <p:cNvSpPr/>
            <p:nvPr/>
          </p:nvSpPr>
          <p:spPr>
            <a:xfrm>
              <a:off x="0" y="0"/>
              <a:ext cx="967334" cy="570833"/>
            </a:xfrm>
            <a:custGeom>
              <a:avLst/>
              <a:gdLst/>
              <a:ahLst/>
              <a:cxnLst/>
              <a:rect l="l" t="t" r="r" b="b"/>
              <a:pathLst>
                <a:path w="967334" h="570833">
                  <a:moveTo>
                    <a:pt x="48640" y="0"/>
                  </a:moveTo>
                  <a:lnTo>
                    <a:pt x="918693" y="0"/>
                  </a:lnTo>
                  <a:cubicBezTo>
                    <a:pt x="931593" y="0"/>
                    <a:pt x="943965" y="5125"/>
                    <a:pt x="953087" y="14246"/>
                  </a:cubicBezTo>
                  <a:cubicBezTo>
                    <a:pt x="962209" y="23368"/>
                    <a:pt x="967334" y="35740"/>
                    <a:pt x="967334" y="48640"/>
                  </a:cubicBezTo>
                  <a:lnTo>
                    <a:pt x="967334" y="522193"/>
                  </a:lnTo>
                  <a:cubicBezTo>
                    <a:pt x="967334" y="549056"/>
                    <a:pt x="945557" y="570833"/>
                    <a:pt x="918693" y="570833"/>
                  </a:cubicBezTo>
                  <a:lnTo>
                    <a:pt x="48640" y="570833"/>
                  </a:lnTo>
                  <a:cubicBezTo>
                    <a:pt x="35740" y="570833"/>
                    <a:pt x="23368" y="565709"/>
                    <a:pt x="14246" y="556587"/>
                  </a:cubicBezTo>
                  <a:cubicBezTo>
                    <a:pt x="5125" y="547465"/>
                    <a:pt x="0" y="535093"/>
                    <a:pt x="0" y="522193"/>
                  </a:cubicBezTo>
                  <a:lnTo>
                    <a:pt x="0" y="48640"/>
                  </a:lnTo>
                  <a:cubicBezTo>
                    <a:pt x="0" y="35740"/>
                    <a:pt x="5125" y="23368"/>
                    <a:pt x="14246" y="14246"/>
                  </a:cubicBezTo>
                  <a:cubicBezTo>
                    <a:pt x="23368" y="5125"/>
                    <a:pt x="35740" y="0"/>
                    <a:pt x="48640" y="0"/>
                  </a:cubicBezTo>
                  <a:close/>
                </a:path>
              </a:pathLst>
            </a:custGeom>
            <a:blipFill>
              <a:blip r:embed="rId2"/>
              <a:stretch>
                <a:fillRect l="-2454" r="-2454"/>
              </a:stretch>
            </a:blipFill>
            <a:ln w="66675" cap="rnd">
              <a:solidFill>
                <a:srgbClr val="FFFFFF"/>
              </a:solidFill>
              <a:prstDash val="solid"/>
              <a:round/>
            </a:ln>
          </p:spPr>
          <p:txBody>
            <a:bodyPr/>
            <a:lstStyle/>
            <a:p>
              <a:endParaRPr lang="en-US"/>
            </a:p>
          </p:txBody>
        </p:sp>
      </p:grpSp>
      <p:sp>
        <p:nvSpPr>
          <p:cNvPr id="9" name="TextBox 9"/>
          <p:cNvSpPr txBox="1"/>
          <p:nvPr/>
        </p:nvSpPr>
        <p:spPr>
          <a:xfrm>
            <a:off x="8137044" y="9201150"/>
            <a:ext cx="1006955" cy="481329"/>
          </a:xfrm>
          <a:prstGeom prst="rect">
            <a:avLst/>
          </a:prstGeom>
        </p:spPr>
        <p:txBody>
          <a:bodyPr wrap="square" lIns="0" tIns="0" rIns="0" bIns="0" rtlCol="0" anchor="t">
            <a:spAutoFit/>
          </a:bodyPr>
          <a:lstStyle/>
          <a:p>
            <a:pPr algn="ctr">
              <a:lnSpc>
                <a:spcPts val="3920"/>
              </a:lnSpc>
              <a:spcBef>
                <a:spcPct val="0"/>
              </a:spcBef>
            </a:pPr>
            <a:r>
              <a:rPr lang="en-US" sz="2800" dirty="0">
                <a:solidFill>
                  <a:srgbClr val="134074"/>
                </a:solidFill>
                <a:latin typeface="DM Sans"/>
                <a:ea typeface="DM Sans"/>
                <a:cs typeface="DM Sans"/>
                <a:sym typeface="DM Sans"/>
              </a:rPr>
              <a:t>8/20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F4ED"/>
        </a:solidFill>
        <a:effectLst/>
      </p:bgPr>
    </p:bg>
    <p:spTree>
      <p:nvGrpSpPr>
        <p:cNvPr id="1" name=""/>
        <p:cNvGrpSpPr/>
        <p:nvPr/>
      </p:nvGrpSpPr>
      <p:grpSpPr>
        <a:xfrm>
          <a:off x="0" y="0"/>
          <a:ext cx="0" cy="0"/>
          <a:chOff x="0" y="0"/>
          <a:chExt cx="0" cy="0"/>
        </a:xfrm>
      </p:grpSpPr>
      <p:grpSp>
        <p:nvGrpSpPr>
          <p:cNvPr id="2" name="Group 2"/>
          <p:cNvGrpSpPr/>
          <p:nvPr/>
        </p:nvGrpSpPr>
        <p:grpSpPr>
          <a:xfrm>
            <a:off x="5158693" y="2247756"/>
            <a:ext cx="3377916" cy="177827"/>
            <a:chOff x="0" y="0"/>
            <a:chExt cx="889657" cy="46835"/>
          </a:xfrm>
        </p:grpSpPr>
        <p:sp>
          <p:nvSpPr>
            <p:cNvPr id="3" name="Freeform 3"/>
            <p:cNvSpPr/>
            <p:nvPr/>
          </p:nvSpPr>
          <p:spPr>
            <a:xfrm>
              <a:off x="0" y="0"/>
              <a:ext cx="889657" cy="46835"/>
            </a:xfrm>
            <a:custGeom>
              <a:avLst/>
              <a:gdLst/>
              <a:ahLst/>
              <a:cxnLst/>
              <a:rect l="l" t="t" r="r" b="b"/>
              <a:pathLst>
                <a:path w="889657" h="46835">
                  <a:moveTo>
                    <a:pt x="0" y="0"/>
                  </a:moveTo>
                  <a:lnTo>
                    <a:pt x="889657" y="0"/>
                  </a:lnTo>
                  <a:lnTo>
                    <a:pt x="889657" y="46835"/>
                  </a:lnTo>
                  <a:lnTo>
                    <a:pt x="0" y="46835"/>
                  </a:lnTo>
                  <a:close/>
                </a:path>
              </a:pathLst>
            </a:custGeom>
            <a:solidFill>
              <a:srgbClr val="8DA9C4"/>
            </a:solidFill>
          </p:spPr>
          <p:txBody>
            <a:bodyPr/>
            <a:lstStyle/>
            <a:p>
              <a:endParaRPr lang="en-US"/>
            </a:p>
          </p:txBody>
        </p:sp>
        <p:sp>
          <p:nvSpPr>
            <p:cNvPr id="4" name="TextBox 4"/>
            <p:cNvSpPr txBox="1"/>
            <p:nvPr/>
          </p:nvSpPr>
          <p:spPr>
            <a:xfrm>
              <a:off x="0" y="-38100"/>
              <a:ext cx="889657" cy="8493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934424" y="2588414"/>
            <a:ext cx="6366664" cy="3757033"/>
            <a:chOff x="0" y="0"/>
            <a:chExt cx="967334" cy="570833"/>
          </a:xfrm>
        </p:grpSpPr>
        <p:sp>
          <p:nvSpPr>
            <p:cNvPr id="6" name="Freeform 6"/>
            <p:cNvSpPr/>
            <p:nvPr/>
          </p:nvSpPr>
          <p:spPr>
            <a:xfrm>
              <a:off x="0" y="0"/>
              <a:ext cx="967334" cy="570833"/>
            </a:xfrm>
            <a:custGeom>
              <a:avLst/>
              <a:gdLst/>
              <a:ahLst/>
              <a:cxnLst/>
              <a:rect l="l" t="t" r="r" b="b"/>
              <a:pathLst>
                <a:path w="967334" h="570833">
                  <a:moveTo>
                    <a:pt x="48640" y="0"/>
                  </a:moveTo>
                  <a:lnTo>
                    <a:pt x="918693" y="0"/>
                  </a:lnTo>
                  <a:cubicBezTo>
                    <a:pt x="931593" y="0"/>
                    <a:pt x="943965" y="5125"/>
                    <a:pt x="953087" y="14246"/>
                  </a:cubicBezTo>
                  <a:cubicBezTo>
                    <a:pt x="962209" y="23368"/>
                    <a:pt x="967334" y="35740"/>
                    <a:pt x="967334" y="48640"/>
                  </a:cubicBezTo>
                  <a:lnTo>
                    <a:pt x="967334" y="522193"/>
                  </a:lnTo>
                  <a:cubicBezTo>
                    <a:pt x="967334" y="549056"/>
                    <a:pt x="945557" y="570833"/>
                    <a:pt x="918693" y="570833"/>
                  </a:cubicBezTo>
                  <a:lnTo>
                    <a:pt x="48640" y="570833"/>
                  </a:lnTo>
                  <a:cubicBezTo>
                    <a:pt x="35740" y="570833"/>
                    <a:pt x="23368" y="565709"/>
                    <a:pt x="14246" y="556587"/>
                  </a:cubicBezTo>
                  <a:cubicBezTo>
                    <a:pt x="5125" y="547465"/>
                    <a:pt x="0" y="535093"/>
                    <a:pt x="0" y="522193"/>
                  </a:cubicBezTo>
                  <a:lnTo>
                    <a:pt x="0" y="48640"/>
                  </a:lnTo>
                  <a:cubicBezTo>
                    <a:pt x="0" y="35740"/>
                    <a:pt x="5125" y="23368"/>
                    <a:pt x="14246" y="14246"/>
                  </a:cubicBezTo>
                  <a:cubicBezTo>
                    <a:pt x="23368" y="5125"/>
                    <a:pt x="35740" y="0"/>
                    <a:pt x="48640" y="0"/>
                  </a:cubicBezTo>
                  <a:close/>
                </a:path>
              </a:pathLst>
            </a:custGeom>
            <a:blipFill>
              <a:blip r:embed="rId2"/>
              <a:stretch>
                <a:fillRect t="-5953" b="-5953"/>
              </a:stretch>
            </a:blipFill>
            <a:ln w="66675" cap="rnd">
              <a:solidFill>
                <a:srgbClr val="FFFFFF"/>
              </a:solidFill>
              <a:prstDash val="solid"/>
              <a:round/>
            </a:ln>
          </p:spPr>
          <p:txBody>
            <a:bodyPr/>
            <a:lstStyle/>
            <a:p>
              <a:endParaRPr lang="en-US"/>
            </a:p>
          </p:txBody>
        </p:sp>
      </p:grpSp>
      <p:sp>
        <p:nvSpPr>
          <p:cNvPr id="7" name="TextBox 7"/>
          <p:cNvSpPr txBox="1"/>
          <p:nvPr/>
        </p:nvSpPr>
        <p:spPr>
          <a:xfrm>
            <a:off x="1314450" y="721552"/>
            <a:ext cx="8620952" cy="1019944"/>
          </a:xfrm>
          <a:prstGeom prst="rect">
            <a:avLst/>
          </a:prstGeom>
        </p:spPr>
        <p:txBody>
          <a:bodyPr lIns="0" tIns="0" rIns="0" bIns="0" rtlCol="0" anchor="t">
            <a:spAutoFit/>
          </a:bodyPr>
          <a:lstStyle/>
          <a:p>
            <a:pPr algn="l">
              <a:lnSpc>
                <a:spcPts val="8330"/>
              </a:lnSpc>
            </a:pPr>
            <a:r>
              <a:rPr lang="en-US" sz="5950" b="1">
                <a:solidFill>
                  <a:srgbClr val="134074"/>
                </a:solidFill>
                <a:latin typeface="DM Sans Bold"/>
                <a:ea typeface="DM Sans Bold"/>
                <a:cs typeface="DM Sans Bold"/>
                <a:sym typeface="DM Sans Bold"/>
              </a:rPr>
              <a:t>Định dạng dữ liệu JSON</a:t>
            </a:r>
          </a:p>
        </p:txBody>
      </p:sp>
      <p:sp>
        <p:nvSpPr>
          <p:cNvPr id="8" name="TextBox 8"/>
          <p:cNvSpPr txBox="1"/>
          <p:nvPr/>
        </p:nvSpPr>
        <p:spPr>
          <a:xfrm>
            <a:off x="1028700" y="2774441"/>
            <a:ext cx="7474018" cy="4117554"/>
          </a:xfrm>
          <a:prstGeom prst="rect">
            <a:avLst/>
          </a:prstGeom>
        </p:spPr>
        <p:txBody>
          <a:bodyPr lIns="0" tIns="0" rIns="0" bIns="0" rtlCol="0" anchor="t">
            <a:spAutoFit/>
          </a:bodyPr>
          <a:lstStyle/>
          <a:p>
            <a:pPr algn="l">
              <a:lnSpc>
                <a:spcPts val="5488"/>
              </a:lnSpc>
            </a:pPr>
            <a:r>
              <a:rPr lang="en-US" sz="3154" spc="107">
                <a:solidFill>
                  <a:srgbClr val="13315C"/>
                </a:solidFill>
                <a:latin typeface="Libre Baskerville"/>
                <a:ea typeface="Libre Baskerville"/>
                <a:cs typeface="Libre Baskerville"/>
                <a:sym typeface="Libre Baskerville"/>
              </a:rPr>
              <a:t>JSON là định dạng dữ liệu được sử dụng phổ biến trong các RESTful API. JSON có cấu trúc gọn nhẹ, dễ đọc và dễ phân tích, giúp việc trao đổi dữ liệu giữa Client và Server diễn ra nhanh chóng và hiệu quả.</a:t>
            </a:r>
          </a:p>
        </p:txBody>
      </p:sp>
      <p:sp>
        <p:nvSpPr>
          <p:cNvPr id="9" name="TextBox 9"/>
          <p:cNvSpPr txBox="1"/>
          <p:nvPr/>
        </p:nvSpPr>
        <p:spPr>
          <a:xfrm>
            <a:off x="9934424" y="1727495"/>
            <a:ext cx="8353576" cy="640929"/>
          </a:xfrm>
          <a:prstGeom prst="rect">
            <a:avLst/>
          </a:prstGeom>
        </p:spPr>
        <p:txBody>
          <a:bodyPr lIns="0" tIns="0" rIns="0" bIns="0" rtlCol="0" anchor="t">
            <a:spAutoFit/>
          </a:bodyPr>
          <a:lstStyle/>
          <a:p>
            <a:pPr algn="l">
              <a:lnSpc>
                <a:spcPts val="5488"/>
              </a:lnSpc>
            </a:pPr>
            <a:r>
              <a:rPr lang="en-US" sz="3154" spc="107">
                <a:solidFill>
                  <a:srgbClr val="13315C"/>
                </a:solidFill>
                <a:latin typeface="Libre Baskerville"/>
                <a:ea typeface="Libre Baskerville"/>
                <a:cs typeface="Libre Baskerville"/>
                <a:sym typeface="Libre Baskerville"/>
              </a:rPr>
              <a:t>Ví dụ:</a:t>
            </a:r>
          </a:p>
        </p:txBody>
      </p:sp>
      <p:sp>
        <p:nvSpPr>
          <p:cNvPr id="10" name="TextBox 10"/>
          <p:cNvSpPr txBox="1"/>
          <p:nvPr/>
        </p:nvSpPr>
        <p:spPr>
          <a:xfrm>
            <a:off x="9350454" y="6643931"/>
            <a:ext cx="8727217" cy="2045787"/>
          </a:xfrm>
          <a:prstGeom prst="rect">
            <a:avLst/>
          </a:prstGeom>
        </p:spPr>
        <p:txBody>
          <a:bodyPr lIns="0" tIns="0" rIns="0" bIns="0" rtlCol="0" anchor="t">
            <a:spAutoFit/>
          </a:bodyPr>
          <a:lstStyle/>
          <a:p>
            <a:pPr algn="just">
              <a:lnSpc>
                <a:spcPts val="4161"/>
              </a:lnSpc>
            </a:pPr>
            <a:r>
              <a:rPr lang="en-US" sz="2391" spc="81">
                <a:solidFill>
                  <a:srgbClr val="13315C"/>
                </a:solidFill>
                <a:latin typeface="Libre Baskerville"/>
                <a:ea typeface="Libre Baskerville"/>
                <a:cs typeface="Libre Baskerville"/>
                <a:sym typeface="Libre Baskerville"/>
              </a:rPr>
              <a:t>Dữ liệu JSON của lớp học được trả về từ API. JSON này mô tả đầy đủ thông tin của một lớp, bao gồm mã định danh lớp, tên lớp, chuyên ngành liên kết, sĩ số sinh viên và các thông tin mô tả liên quan.</a:t>
            </a:r>
          </a:p>
        </p:txBody>
      </p:sp>
      <p:sp>
        <p:nvSpPr>
          <p:cNvPr id="11" name="TextBox 11"/>
          <p:cNvSpPr txBox="1"/>
          <p:nvPr/>
        </p:nvSpPr>
        <p:spPr>
          <a:xfrm>
            <a:off x="8136317" y="9201150"/>
            <a:ext cx="855283" cy="481329"/>
          </a:xfrm>
          <a:prstGeom prst="rect">
            <a:avLst/>
          </a:prstGeom>
        </p:spPr>
        <p:txBody>
          <a:bodyPr wrap="square" lIns="0" tIns="0" rIns="0" bIns="0" rtlCol="0" anchor="t">
            <a:spAutoFit/>
          </a:bodyPr>
          <a:lstStyle/>
          <a:p>
            <a:pPr algn="ctr">
              <a:lnSpc>
                <a:spcPts val="3920"/>
              </a:lnSpc>
              <a:spcBef>
                <a:spcPct val="0"/>
              </a:spcBef>
            </a:pPr>
            <a:r>
              <a:rPr lang="en-US" sz="2800" dirty="0">
                <a:solidFill>
                  <a:srgbClr val="134074"/>
                </a:solidFill>
                <a:latin typeface="DM Sans"/>
                <a:ea typeface="DM Sans"/>
                <a:cs typeface="DM Sans"/>
                <a:sym typeface="DM Sans"/>
              </a:rPr>
              <a:t>9/20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F4ED"/>
        </a:solidFill>
        <a:effectLst/>
      </p:bgPr>
    </p:bg>
    <p:spTree>
      <p:nvGrpSpPr>
        <p:cNvPr id="1" name=""/>
        <p:cNvGrpSpPr/>
        <p:nvPr/>
      </p:nvGrpSpPr>
      <p:grpSpPr>
        <a:xfrm>
          <a:off x="0" y="0"/>
          <a:ext cx="0" cy="0"/>
          <a:chOff x="0" y="0"/>
          <a:chExt cx="0" cy="0"/>
        </a:xfrm>
      </p:grpSpPr>
      <p:grpSp>
        <p:nvGrpSpPr>
          <p:cNvPr id="2" name="Group 2"/>
          <p:cNvGrpSpPr/>
          <p:nvPr/>
        </p:nvGrpSpPr>
        <p:grpSpPr>
          <a:xfrm>
            <a:off x="1314450" y="2046325"/>
            <a:ext cx="16457582" cy="237260"/>
            <a:chOff x="0" y="0"/>
            <a:chExt cx="4334507" cy="62488"/>
          </a:xfrm>
        </p:grpSpPr>
        <p:sp>
          <p:nvSpPr>
            <p:cNvPr id="3" name="Freeform 3"/>
            <p:cNvSpPr/>
            <p:nvPr/>
          </p:nvSpPr>
          <p:spPr>
            <a:xfrm>
              <a:off x="0" y="0"/>
              <a:ext cx="4334507" cy="62488"/>
            </a:xfrm>
            <a:custGeom>
              <a:avLst/>
              <a:gdLst/>
              <a:ahLst/>
              <a:cxnLst/>
              <a:rect l="l" t="t" r="r" b="b"/>
              <a:pathLst>
                <a:path w="4334507" h="62488">
                  <a:moveTo>
                    <a:pt x="0" y="0"/>
                  </a:moveTo>
                  <a:lnTo>
                    <a:pt x="4334507" y="0"/>
                  </a:lnTo>
                  <a:lnTo>
                    <a:pt x="4334507" y="62488"/>
                  </a:lnTo>
                  <a:lnTo>
                    <a:pt x="0" y="62488"/>
                  </a:lnTo>
                  <a:close/>
                </a:path>
              </a:pathLst>
            </a:custGeom>
            <a:solidFill>
              <a:srgbClr val="8DA9C4"/>
            </a:solidFill>
          </p:spPr>
          <p:txBody>
            <a:bodyPr/>
            <a:lstStyle/>
            <a:p>
              <a:endParaRPr lang="en-US"/>
            </a:p>
          </p:txBody>
        </p:sp>
        <p:sp>
          <p:nvSpPr>
            <p:cNvPr id="4" name="TextBox 4"/>
            <p:cNvSpPr txBox="1"/>
            <p:nvPr/>
          </p:nvSpPr>
          <p:spPr>
            <a:xfrm>
              <a:off x="0" y="-38100"/>
              <a:ext cx="4334507" cy="10058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8612057" y="3142186"/>
            <a:ext cx="9298179" cy="4715425"/>
            <a:chOff x="0" y="0"/>
            <a:chExt cx="967334" cy="490568"/>
          </a:xfrm>
        </p:grpSpPr>
        <p:sp>
          <p:nvSpPr>
            <p:cNvPr id="6" name="Freeform 6"/>
            <p:cNvSpPr/>
            <p:nvPr/>
          </p:nvSpPr>
          <p:spPr>
            <a:xfrm>
              <a:off x="0" y="0"/>
              <a:ext cx="967334" cy="490568"/>
            </a:xfrm>
            <a:custGeom>
              <a:avLst/>
              <a:gdLst/>
              <a:ahLst/>
              <a:cxnLst/>
              <a:rect l="l" t="t" r="r" b="b"/>
              <a:pathLst>
                <a:path w="967334" h="490568">
                  <a:moveTo>
                    <a:pt x="33305" y="0"/>
                  </a:moveTo>
                  <a:lnTo>
                    <a:pt x="934028" y="0"/>
                  </a:lnTo>
                  <a:cubicBezTo>
                    <a:pt x="942862" y="0"/>
                    <a:pt x="951333" y="3509"/>
                    <a:pt x="957579" y="9755"/>
                  </a:cubicBezTo>
                  <a:cubicBezTo>
                    <a:pt x="963825" y="16001"/>
                    <a:pt x="967334" y="24472"/>
                    <a:pt x="967334" y="33305"/>
                  </a:cubicBezTo>
                  <a:lnTo>
                    <a:pt x="967334" y="457263"/>
                  </a:lnTo>
                  <a:cubicBezTo>
                    <a:pt x="967334" y="466096"/>
                    <a:pt x="963825" y="474567"/>
                    <a:pt x="957579" y="480813"/>
                  </a:cubicBezTo>
                  <a:cubicBezTo>
                    <a:pt x="951333" y="487059"/>
                    <a:pt x="942862" y="490568"/>
                    <a:pt x="934028" y="490568"/>
                  </a:cubicBezTo>
                  <a:lnTo>
                    <a:pt x="33305" y="490568"/>
                  </a:lnTo>
                  <a:cubicBezTo>
                    <a:pt x="24472" y="490568"/>
                    <a:pt x="16001" y="487059"/>
                    <a:pt x="9755" y="480813"/>
                  </a:cubicBezTo>
                  <a:cubicBezTo>
                    <a:pt x="3509" y="474567"/>
                    <a:pt x="0" y="466096"/>
                    <a:pt x="0" y="457263"/>
                  </a:cubicBezTo>
                  <a:lnTo>
                    <a:pt x="0" y="33305"/>
                  </a:lnTo>
                  <a:cubicBezTo>
                    <a:pt x="0" y="24472"/>
                    <a:pt x="3509" y="16001"/>
                    <a:pt x="9755" y="9755"/>
                  </a:cubicBezTo>
                  <a:cubicBezTo>
                    <a:pt x="16001" y="3509"/>
                    <a:pt x="24472" y="0"/>
                    <a:pt x="33305" y="0"/>
                  </a:cubicBezTo>
                  <a:close/>
                </a:path>
              </a:pathLst>
            </a:custGeom>
            <a:blipFill>
              <a:blip r:embed="rId2"/>
              <a:stretch>
                <a:fillRect l="-1616" r="-1616"/>
              </a:stretch>
            </a:blipFill>
            <a:ln w="66675" cap="rnd">
              <a:solidFill>
                <a:srgbClr val="FFFFFF"/>
              </a:solidFill>
              <a:prstDash val="solid"/>
              <a:round/>
            </a:ln>
          </p:spPr>
          <p:txBody>
            <a:bodyPr/>
            <a:lstStyle/>
            <a:p>
              <a:endParaRPr lang="en-US"/>
            </a:p>
          </p:txBody>
        </p:sp>
      </p:grpSp>
      <p:sp>
        <p:nvSpPr>
          <p:cNvPr id="7" name="TextBox 7"/>
          <p:cNvSpPr txBox="1"/>
          <p:nvPr/>
        </p:nvSpPr>
        <p:spPr>
          <a:xfrm>
            <a:off x="1314450" y="721552"/>
            <a:ext cx="16595786" cy="1019944"/>
          </a:xfrm>
          <a:prstGeom prst="rect">
            <a:avLst/>
          </a:prstGeom>
        </p:spPr>
        <p:txBody>
          <a:bodyPr lIns="0" tIns="0" rIns="0" bIns="0" rtlCol="0" anchor="t">
            <a:spAutoFit/>
          </a:bodyPr>
          <a:lstStyle/>
          <a:p>
            <a:pPr algn="l">
              <a:lnSpc>
                <a:spcPts val="8330"/>
              </a:lnSpc>
            </a:pPr>
            <a:r>
              <a:rPr lang="en-US" sz="5950" b="1">
                <a:solidFill>
                  <a:srgbClr val="134074"/>
                </a:solidFill>
                <a:latin typeface="DM Sans Bold"/>
                <a:ea typeface="DM Sans Bold"/>
                <a:cs typeface="DM Sans Bold"/>
                <a:sym typeface="DM Sans Bold"/>
              </a:rPr>
              <a:t>Các phương thức HTTP và ý nghĩa  của chúng</a:t>
            </a:r>
          </a:p>
        </p:txBody>
      </p:sp>
      <p:sp>
        <p:nvSpPr>
          <p:cNvPr id="8" name="TextBox 8"/>
          <p:cNvSpPr txBox="1"/>
          <p:nvPr/>
        </p:nvSpPr>
        <p:spPr>
          <a:xfrm>
            <a:off x="1028700" y="2774441"/>
            <a:ext cx="7474018" cy="4117554"/>
          </a:xfrm>
          <a:prstGeom prst="rect">
            <a:avLst/>
          </a:prstGeom>
        </p:spPr>
        <p:txBody>
          <a:bodyPr lIns="0" tIns="0" rIns="0" bIns="0" rtlCol="0" anchor="t">
            <a:spAutoFit/>
          </a:bodyPr>
          <a:lstStyle/>
          <a:p>
            <a:pPr marL="681011" lvl="1" indent="-340506" algn="l">
              <a:lnSpc>
                <a:spcPts val="5488"/>
              </a:lnSpc>
              <a:buFont typeface="Arial"/>
              <a:buChar char="•"/>
            </a:pPr>
            <a:r>
              <a:rPr lang="en-US" sz="3154" spc="107">
                <a:solidFill>
                  <a:srgbClr val="13315C"/>
                </a:solidFill>
                <a:latin typeface="Libre Baskerville"/>
                <a:ea typeface="Libre Baskerville"/>
                <a:cs typeface="Libre Baskerville"/>
                <a:sym typeface="Libre Baskerville"/>
              </a:rPr>
              <a:t>GET: đọc tài nguyên </a:t>
            </a:r>
          </a:p>
          <a:p>
            <a:pPr marL="681011" lvl="1" indent="-340506" algn="l">
              <a:lnSpc>
                <a:spcPts val="5488"/>
              </a:lnSpc>
              <a:buFont typeface="Arial"/>
              <a:buChar char="•"/>
            </a:pPr>
            <a:r>
              <a:rPr lang="en-US" sz="3154" spc="107">
                <a:solidFill>
                  <a:srgbClr val="13315C"/>
                </a:solidFill>
                <a:latin typeface="Libre Baskerville"/>
                <a:ea typeface="Libre Baskerville"/>
                <a:cs typeface="Libre Baskerville"/>
                <a:sym typeface="Libre Baskerville"/>
              </a:rPr>
              <a:t>POST: tạo mới </a:t>
            </a:r>
          </a:p>
          <a:p>
            <a:pPr marL="681011" lvl="1" indent="-340506" algn="l">
              <a:lnSpc>
                <a:spcPts val="5488"/>
              </a:lnSpc>
              <a:buFont typeface="Arial"/>
              <a:buChar char="•"/>
            </a:pPr>
            <a:r>
              <a:rPr lang="en-US" sz="3154" spc="107">
                <a:solidFill>
                  <a:srgbClr val="13315C"/>
                </a:solidFill>
                <a:latin typeface="Libre Baskerville"/>
                <a:ea typeface="Libre Baskerville"/>
                <a:cs typeface="Libre Baskerville"/>
                <a:sym typeface="Libre Baskerville"/>
              </a:rPr>
              <a:t>PUT: cập nhật toàn bộ </a:t>
            </a:r>
          </a:p>
          <a:p>
            <a:pPr marL="681011" lvl="1" indent="-340506" algn="l">
              <a:lnSpc>
                <a:spcPts val="5488"/>
              </a:lnSpc>
              <a:buFont typeface="Arial"/>
              <a:buChar char="•"/>
            </a:pPr>
            <a:r>
              <a:rPr lang="en-US" sz="3154" spc="107">
                <a:solidFill>
                  <a:srgbClr val="13315C"/>
                </a:solidFill>
                <a:latin typeface="Libre Baskerville"/>
                <a:ea typeface="Libre Baskerville"/>
                <a:cs typeface="Libre Baskerville"/>
                <a:sym typeface="Libre Baskerville"/>
              </a:rPr>
              <a:t>DELETE: xóa tài nguyên</a:t>
            </a:r>
          </a:p>
          <a:p>
            <a:pPr algn="l">
              <a:lnSpc>
                <a:spcPts val="5488"/>
              </a:lnSpc>
            </a:pPr>
            <a:endParaRPr lang="en-US" sz="3154" spc="107">
              <a:solidFill>
                <a:srgbClr val="13315C"/>
              </a:solidFill>
              <a:latin typeface="Libre Baskerville"/>
              <a:ea typeface="Libre Baskerville"/>
              <a:cs typeface="Libre Baskerville"/>
              <a:sym typeface="Libre Baskerville"/>
            </a:endParaRPr>
          </a:p>
          <a:p>
            <a:pPr algn="l">
              <a:lnSpc>
                <a:spcPts val="5488"/>
              </a:lnSpc>
            </a:pPr>
            <a:endParaRPr lang="en-US" sz="3154" spc="107">
              <a:solidFill>
                <a:srgbClr val="13315C"/>
              </a:solidFill>
              <a:latin typeface="Libre Baskerville"/>
              <a:ea typeface="Libre Baskerville"/>
              <a:cs typeface="Libre Baskerville"/>
              <a:sym typeface="Libre Baskerville"/>
            </a:endParaRPr>
          </a:p>
        </p:txBody>
      </p:sp>
      <p:sp>
        <p:nvSpPr>
          <p:cNvPr id="9" name="TextBox 9"/>
          <p:cNvSpPr txBox="1"/>
          <p:nvPr/>
        </p:nvSpPr>
        <p:spPr>
          <a:xfrm>
            <a:off x="8612057" y="2396852"/>
            <a:ext cx="8727217" cy="998037"/>
          </a:xfrm>
          <a:prstGeom prst="rect">
            <a:avLst/>
          </a:prstGeom>
        </p:spPr>
        <p:txBody>
          <a:bodyPr lIns="0" tIns="0" rIns="0" bIns="0" rtlCol="0" anchor="t">
            <a:spAutoFit/>
          </a:bodyPr>
          <a:lstStyle/>
          <a:p>
            <a:pPr algn="just">
              <a:lnSpc>
                <a:spcPts val="4161"/>
              </a:lnSpc>
            </a:pPr>
            <a:r>
              <a:rPr lang="en-US" sz="2391" spc="81">
                <a:solidFill>
                  <a:srgbClr val="13315C"/>
                </a:solidFill>
                <a:latin typeface="Libre Baskerville"/>
                <a:ea typeface="Libre Baskerville"/>
                <a:cs typeface="Libre Baskerville"/>
                <a:sym typeface="Libre Baskerville"/>
              </a:rPr>
              <a:t>Ví dụ: lấy một thông tin sinh viên</a:t>
            </a:r>
          </a:p>
          <a:p>
            <a:pPr algn="just">
              <a:lnSpc>
                <a:spcPts val="4161"/>
              </a:lnSpc>
            </a:pPr>
            <a:endParaRPr lang="en-US" sz="2391" spc="81">
              <a:solidFill>
                <a:srgbClr val="13315C"/>
              </a:solidFill>
              <a:latin typeface="Libre Baskerville"/>
              <a:ea typeface="Libre Baskerville"/>
              <a:cs typeface="Libre Baskerville"/>
              <a:sym typeface="Libre Baskerville"/>
            </a:endParaRPr>
          </a:p>
        </p:txBody>
      </p:sp>
      <p:sp>
        <p:nvSpPr>
          <p:cNvPr id="10" name="TextBox 10"/>
          <p:cNvSpPr txBox="1"/>
          <p:nvPr/>
        </p:nvSpPr>
        <p:spPr>
          <a:xfrm>
            <a:off x="8136317" y="9201150"/>
            <a:ext cx="1007683" cy="477695"/>
          </a:xfrm>
          <a:prstGeom prst="rect">
            <a:avLst/>
          </a:prstGeom>
        </p:spPr>
        <p:txBody>
          <a:bodyPr wrap="square" lIns="0" tIns="0" rIns="0" bIns="0" rtlCol="0" anchor="t">
            <a:spAutoFit/>
          </a:bodyPr>
          <a:lstStyle/>
          <a:p>
            <a:pPr algn="ctr">
              <a:lnSpc>
                <a:spcPts val="3920"/>
              </a:lnSpc>
              <a:spcBef>
                <a:spcPct val="0"/>
              </a:spcBef>
            </a:pPr>
            <a:r>
              <a:rPr lang="en-US" sz="2800" dirty="0">
                <a:solidFill>
                  <a:srgbClr val="134074"/>
                </a:solidFill>
                <a:latin typeface="DM Sans"/>
                <a:ea typeface="DM Sans"/>
                <a:cs typeface="DM Sans"/>
                <a:sym typeface="DM Sans"/>
              </a:rPr>
              <a:t>10/20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F4ED"/>
        </a:solidFill>
        <a:effectLst/>
      </p:bgPr>
    </p:bg>
    <p:spTree>
      <p:nvGrpSpPr>
        <p:cNvPr id="1" name=""/>
        <p:cNvGrpSpPr/>
        <p:nvPr/>
      </p:nvGrpSpPr>
      <p:grpSpPr>
        <a:xfrm>
          <a:off x="0" y="0"/>
          <a:ext cx="0" cy="0"/>
          <a:chOff x="0" y="0"/>
          <a:chExt cx="0" cy="0"/>
        </a:xfrm>
      </p:grpSpPr>
      <p:grpSp>
        <p:nvGrpSpPr>
          <p:cNvPr id="2" name="Group 2"/>
          <p:cNvGrpSpPr/>
          <p:nvPr/>
        </p:nvGrpSpPr>
        <p:grpSpPr>
          <a:xfrm>
            <a:off x="1314450" y="2084567"/>
            <a:ext cx="6514684" cy="199018"/>
            <a:chOff x="0" y="0"/>
            <a:chExt cx="1715802" cy="52416"/>
          </a:xfrm>
        </p:grpSpPr>
        <p:sp>
          <p:nvSpPr>
            <p:cNvPr id="3" name="Freeform 3"/>
            <p:cNvSpPr/>
            <p:nvPr/>
          </p:nvSpPr>
          <p:spPr>
            <a:xfrm>
              <a:off x="0" y="0"/>
              <a:ext cx="1715802" cy="52416"/>
            </a:xfrm>
            <a:custGeom>
              <a:avLst/>
              <a:gdLst/>
              <a:ahLst/>
              <a:cxnLst/>
              <a:rect l="l" t="t" r="r" b="b"/>
              <a:pathLst>
                <a:path w="1715802" h="52416">
                  <a:moveTo>
                    <a:pt x="0" y="0"/>
                  </a:moveTo>
                  <a:lnTo>
                    <a:pt x="1715802" y="0"/>
                  </a:lnTo>
                  <a:lnTo>
                    <a:pt x="1715802" y="52416"/>
                  </a:lnTo>
                  <a:lnTo>
                    <a:pt x="0" y="52416"/>
                  </a:lnTo>
                  <a:close/>
                </a:path>
              </a:pathLst>
            </a:custGeom>
            <a:solidFill>
              <a:srgbClr val="8DA9C4"/>
            </a:solidFill>
          </p:spPr>
          <p:txBody>
            <a:bodyPr/>
            <a:lstStyle/>
            <a:p>
              <a:endParaRPr lang="en-US"/>
            </a:p>
          </p:txBody>
        </p:sp>
        <p:sp>
          <p:nvSpPr>
            <p:cNvPr id="4" name="TextBox 4"/>
            <p:cNvSpPr txBox="1"/>
            <p:nvPr/>
          </p:nvSpPr>
          <p:spPr>
            <a:xfrm>
              <a:off x="0" y="-38100"/>
              <a:ext cx="1715802" cy="90516"/>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314450" y="721552"/>
            <a:ext cx="14305939" cy="1019944"/>
          </a:xfrm>
          <a:prstGeom prst="rect">
            <a:avLst/>
          </a:prstGeom>
        </p:spPr>
        <p:txBody>
          <a:bodyPr lIns="0" tIns="0" rIns="0" bIns="0" rtlCol="0" anchor="t">
            <a:spAutoFit/>
          </a:bodyPr>
          <a:lstStyle/>
          <a:p>
            <a:pPr algn="l">
              <a:lnSpc>
                <a:spcPts val="8330"/>
              </a:lnSpc>
            </a:pPr>
            <a:r>
              <a:rPr lang="en-US" sz="5950" b="1">
                <a:solidFill>
                  <a:srgbClr val="134074"/>
                </a:solidFill>
                <a:latin typeface="DM Sans Bold"/>
                <a:ea typeface="DM Sans Bold"/>
                <a:cs typeface="DM Sans Bold"/>
                <a:sym typeface="DM Sans Bold"/>
              </a:rPr>
              <a:t>Mô hình dữ liệu (MongoDB / Mongoose)</a:t>
            </a:r>
          </a:p>
        </p:txBody>
      </p:sp>
      <p:sp>
        <p:nvSpPr>
          <p:cNvPr id="6" name="TextBox 6"/>
          <p:cNvSpPr txBox="1"/>
          <p:nvPr/>
        </p:nvSpPr>
        <p:spPr>
          <a:xfrm>
            <a:off x="1154351" y="2748154"/>
            <a:ext cx="16245151" cy="6898854"/>
          </a:xfrm>
          <a:prstGeom prst="rect">
            <a:avLst/>
          </a:prstGeom>
        </p:spPr>
        <p:txBody>
          <a:bodyPr lIns="0" tIns="0" rIns="0" bIns="0" rtlCol="0" anchor="t">
            <a:spAutoFit/>
          </a:bodyPr>
          <a:lstStyle/>
          <a:p>
            <a:pPr marL="681011" lvl="1" indent="-340506" algn="l">
              <a:lnSpc>
                <a:spcPts val="5488"/>
              </a:lnSpc>
              <a:buFont typeface="Arial"/>
              <a:buChar char="•"/>
            </a:pPr>
            <a:r>
              <a:rPr lang="en-US" sz="3154" spc="107">
                <a:solidFill>
                  <a:srgbClr val="13315C"/>
                </a:solidFill>
                <a:latin typeface="Libre Baskerville"/>
                <a:ea typeface="Libre Baskerville"/>
                <a:cs typeface="Libre Baskerville"/>
                <a:sym typeface="Libre Baskerville"/>
              </a:rPr>
              <a:t>Hệ thống sử dụng MongoDB làm cơ sở dữ liệu và Mongoose để định nghĩa các collection với cấu trúc dữ liệu rõ ràng cho từng thực thể:</a:t>
            </a:r>
          </a:p>
          <a:p>
            <a:pPr marL="681011" lvl="1" indent="-340506" algn="l">
              <a:lnSpc>
                <a:spcPts val="5488"/>
              </a:lnSpc>
              <a:buFont typeface="Arial"/>
              <a:buChar char="•"/>
            </a:pPr>
            <a:r>
              <a:rPr lang="en-US" sz="3154" b="1" spc="107">
                <a:solidFill>
                  <a:srgbClr val="13315C"/>
                </a:solidFill>
                <a:latin typeface="Libre Baskerville Bold"/>
                <a:ea typeface="Libre Baskerville Bold"/>
                <a:cs typeface="Libre Baskerville Bold"/>
                <a:sym typeface="Libre Baskerville Bold"/>
              </a:rPr>
              <a:t>User: </a:t>
            </a:r>
            <a:r>
              <a:rPr lang="en-US" sz="3154" spc="107">
                <a:solidFill>
                  <a:srgbClr val="13315C"/>
                </a:solidFill>
                <a:latin typeface="Libre Baskerville"/>
                <a:ea typeface="Libre Baskerville"/>
                <a:cs typeface="Libre Baskerville"/>
                <a:sym typeface="Libre Baskerville"/>
              </a:rPr>
              <a:t>lưu trữ thông tin sinh viên như tên, email, mã số sinh viên, lớp, ngành, số ĐT, giới tính, ngày nhập họcĐịa chỉ.</a:t>
            </a:r>
          </a:p>
          <a:p>
            <a:pPr marL="681011" lvl="1" indent="-340506" algn="l">
              <a:lnSpc>
                <a:spcPts val="5488"/>
              </a:lnSpc>
              <a:buFont typeface="Arial"/>
              <a:buChar char="•"/>
            </a:pPr>
            <a:r>
              <a:rPr lang="en-US" sz="3154" b="1" spc="107">
                <a:solidFill>
                  <a:srgbClr val="13315C"/>
                </a:solidFill>
                <a:latin typeface="Libre Baskerville Bold"/>
                <a:ea typeface="Libre Baskerville Bold"/>
                <a:cs typeface="Libre Baskerville Bold"/>
                <a:sym typeface="Libre Baskerville Bold"/>
              </a:rPr>
              <a:t>Class: </a:t>
            </a:r>
            <a:r>
              <a:rPr lang="en-US" sz="3154" spc="107">
                <a:solidFill>
                  <a:srgbClr val="13315C"/>
                </a:solidFill>
                <a:latin typeface="Libre Baskerville"/>
                <a:ea typeface="Libre Baskerville"/>
                <a:cs typeface="Libre Baskerville"/>
                <a:sym typeface="Libre Baskerville"/>
              </a:rPr>
              <a:t>thông tin lớp học, ngành học.</a:t>
            </a:r>
          </a:p>
          <a:p>
            <a:pPr marL="681011" lvl="1" indent="-340506" algn="l">
              <a:lnSpc>
                <a:spcPts val="5488"/>
              </a:lnSpc>
              <a:buFont typeface="Arial"/>
              <a:buChar char="•"/>
            </a:pPr>
            <a:r>
              <a:rPr lang="en-US" sz="3154" spc="107">
                <a:solidFill>
                  <a:srgbClr val="13315C"/>
                </a:solidFill>
                <a:latin typeface="Libre Baskerville"/>
                <a:ea typeface="Libre Baskerville"/>
                <a:cs typeface="Libre Baskerville"/>
                <a:sym typeface="Libre Baskerville"/>
              </a:rPr>
              <a:t>M</a:t>
            </a:r>
            <a:r>
              <a:rPr lang="en-US" sz="3154" b="1" spc="107">
                <a:solidFill>
                  <a:srgbClr val="13315C"/>
                </a:solidFill>
                <a:latin typeface="Libre Baskerville Bold"/>
                <a:ea typeface="Libre Baskerville Bold"/>
                <a:cs typeface="Libre Baskerville Bold"/>
                <a:sym typeface="Libre Baskerville Bold"/>
              </a:rPr>
              <a:t>ajors: </a:t>
            </a:r>
            <a:r>
              <a:rPr lang="en-US" sz="3154" spc="107">
                <a:solidFill>
                  <a:srgbClr val="13315C"/>
                </a:solidFill>
                <a:latin typeface="Libre Baskerville"/>
                <a:ea typeface="Libre Baskerville"/>
                <a:cs typeface="Libre Baskerville"/>
                <a:sym typeface="Libre Baskerville"/>
              </a:rPr>
              <a:t>mã và tên ngành học.</a:t>
            </a:r>
          </a:p>
          <a:p>
            <a:pPr marL="681011" lvl="1" indent="-340506" algn="l">
              <a:lnSpc>
                <a:spcPts val="5488"/>
              </a:lnSpc>
              <a:buFont typeface="Arial"/>
              <a:buChar char="•"/>
            </a:pPr>
            <a:r>
              <a:rPr lang="en-US" sz="3154" spc="107">
                <a:solidFill>
                  <a:srgbClr val="13315C"/>
                </a:solidFill>
                <a:latin typeface="Libre Baskerville"/>
                <a:ea typeface="Libre Baskerville"/>
                <a:cs typeface="Libre Baskerville"/>
                <a:sym typeface="Libre Baskerville"/>
              </a:rPr>
              <a:t>C</a:t>
            </a:r>
            <a:r>
              <a:rPr lang="en-US" sz="3154" b="1" spc="107">
                <a:solidFill>
                  <a:srgbClr val="13315C"/>
                </a:solidFill>
                <a:latin typeface="Libre Baskerville Bold"/>
                <a:ea typeface="Libre Baskerville Bold"/>
                <a:cs typeface="Libre Baskerville Bold"/>
                <a:sym typeface="Libre Baskerville Bold"/>
              </a:rPr>
              <a:t>ourses: </a:t>
            </a:r>
            <a:r>
              <a:rPr lang="en-US" sz="3154" spc="107">
                <a:solidFill>
                  <a:srgbClr val="13315C"/>
                </a:solidFill>
                <a:latin typeface="Libre Baskerville"/>
                <a:ea typeface="Libre Baskerville"/>
                <a:cs typeface="Libre Baskerville"/>
                <a:sym typeface="Libre Baskerville"/>
              </a:rPr>
              <a:t>Tên môn học mã môn học , tín chỉ, học kỳ, giảng viên</a:t>
            </a:r>
          </a:p>
          <a:p>
            <a:pPr marL="681011" lvl="1" indent="-340506" algn="l">
              <a:lnSpc>
                <a:spcPts val="5488"/>
              </a:lnSpc>
              <a:buFont typeface="Arial"/>
              <a:buChar char="•"/>
            </a:pPr>
            <a:r>
              <a:rPr lang="en-US" sz="3154" spc="107">
                <a:solidFill>
                  <a:srgbClr val="13315C"/>
                </a:solidFill>
                <a:latin typeface="Libre Baskerville"/>
                <a:ea typeface="Libre Baskerville"/>
                <a:cs typeface="Libre Baskerville"/>
                <a:sym typeface="Libre Baskerville"/>
              </a:rPr>
              <a:t>G</a:t>
            </a:r>
            <a:r>
              <a:rPr lang="en-US" sz="3154" b="1" spc="107">
                <a:solidFill>
                  <a:srgbClr val="13315C"/>
                </a:solidFill>
                <a:latin typeface="Libre Baskerville Bold"/>
                <a:ea typeface="Libre Baskerville Bold"/>
                <a:cs typeface="Libre Baskerville Bold"/>
                <a:sym typeface="Libre Baskerville Bold"/>
              </a:rPr>
              <a:t>rades: </a:t>
            </a:r>
            <a:r>
              <a:rPr lang="en-US" sz="3154" spc="107">
                <a:solidFill>
                  <a:srgbClr val="13315C"/>
                </a:solidFill>
                <a:latin typeface="Libre Baskerville"/>
                <a:ea typeface="Libre Baskerville"/>
                <a:cs typeface="Libre Baskerville"/>
                <a:sym typeface="Libre Baskerville"/>
              </a:rPr>
              <a:t>Tên sinh viên, môn học, KTQT lần 1,2 , điểm thi, tổng kết, xếp loại, trặng thái đạt và không đạt</a:t>
            </a:r>
          </a:p>
          <a:p>
            <a:pPr algn="l">
              <a:lnSpc>
                <a:spcPts val="5488"/>
              </a:lnSpc>
            </a:pPr>
            <a:endParaRPr lang="en-US" sz="3154" spc="107">
              <a:solidFill>
                <a:srgbClr val="13315C"/>
              </a:solidFill>
              <a:latin typeface="Libre Baskerville"/>
              <a:ea typeface="Libre Baskerville"/>
              <a:cs typeface="Libre Baskerville"/>
              <a:sym typeface="Libre Baskerville"/>
            </a:endParaRPr>
          </a:p>
        </p:txBody>
      </p:sp>
      <p:sp>
        <p:nvSpPr>
          <p:cNvPr id="7" name="TextBox 7"/>
          <p:cNvSpPr txBox="1"/>
          <p:nvPr/>
        </p:nvSpPr>
        <p:spPr>
          <a:xfrm>
            <a:off x="8136317" y="9201150"/>
            <a:ext cx="1007683" cy="477695"/>
          </a:xfrm>
          <a:prstGeom prst="rect">
            <a:avLst/>
          </a:prstGeom>
        </p:spPr>
        <p:txBody>
          <a:bodyPr wrap="square" lIns="0" tIns="0" rIns="0" bIns="0" rtlCol="0" anchor="t">
            <a:spAutoFit/>
          </a:bodyPr>
          <a:lstStyle/>
          <a:p>
            <a:pPr algn="ctr">
              <a:lnSpc>
                <a:spcPts val="3920"/>
              </a:lnSpc>
              <a:spcBef>
                <a:spcPct val="0"/>
              </a:spcBef>
            </a:pPr>
            <a:r>
              <a:rPr lang="en-US" sz="2800" dirty="0">
                <a:solidFill>
                  <a:srgbClr val="134074"/>
                </a:solidFill>
                <a:latin typeface="DM Sans"/>
                <a:ea typeface="DM Sans"/>
                <a:cs typeface="DM Sans"/>
                <a:sym typeface="DM Sans"/>
              </a:rPr>
              <a:t>11/20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EF4ED"/>
        </a:solidFill>
        <a:effectLst/>
      </p:bgPr>
    </p:bg>
    <p:spTree>
      <p:nvGrpSpPr>
        <p:cNvPr id="1" name=""/>
        <p:cNvGrpSpPr/>
        <p:nvPr/>
      </p:nvGrpSpPr>
      <p:grpSpPr>
        <a:xfrm>
          <a:off x="0" y="0"/>
          <a:ext cx="0" cy="0"/>
          <a:chOff x="0" y="0"/>
          <a:chExt cx="0" cy="0"/>
        </a:xfrm>
      </p:grpSpPr>
      <p:grpSp>
        <p:nvGrpSpPr>
          <p:cNvPr id="2" name="Group 2"/>
          <p:cNvGrpSpPr/>
          <p:nvPr/>
        </p:nvGrpSpPr>
        <p:grpSpPr>
          <a:xfrm>
            <a:off x="1314450" y="2046325"/>
            <a:ext cx="16457582" cy="237260"/>
            <a:chOff x="0" y="0"/>
            <a:chExt cx="4334507" cy="62488"/>
          </a:xfrm>
        </p:grpSpPr>
        <p:sp>
          <p:nvSpPr>
            <p:cNvPr id="3" name="Freeform 3"/>
            <p:cNvSpPr/>
            <p:nvPr/>
          </p:nvSpPr>
          <p:spPr>
            <a:xfrm>
              <a:off x="0" y="0"/>
              <a:ext cx="4334507" cy="62488"/>
            </a:xfrm>
            <a:custGeom>
              <a:avLst/>
              <a:gdLst/>
              <a:ahLst/>
              <a:cxnLst/>
              <a:rect l="l" t="t" r="r" b="b"/>
              <a:pathLst>
                <a:path w="4334507" h="62488">
                  <a:moveTo>
                    <a:pt x="0" y="0"/>
                  </a:moveTo>
                  <a:lnTo>
                    <a:pt x="4334507" y="0"/>
                  </a:lnTo>
                  <a:lnTo>
                    <a:pt x="4334507" y="62488"/>
                  </a:lnTo>
                  <a:lnTo>
                    <a:pt x="0" y="62488"/>
                  </a:lnTo>
                  <a:close/>
                </a:path>
              </a:pathLst>
            </a:custGeom>
            <a:solidFill>
              <a:srgbClr val="8DA9C4"/>
            </a:solidFill>
          </p:spPr>
          <p:txBody>
            <a:bodyPr/>
            <a:lstStyle/>
            <a:p>
              <a:endParaRPr lang="en-US"/>
            </a:p>
          </p:txBody>
        </p:sp>
        <p:sp>
          <p:nvSpPr>
            <p:cNvPr id="4" name="TextBox 4"/>
            <p:cNvSpPr txBox="1"/>
            <p:nvPr/>
          </p:nvSpPr>
          <p:spPr>
            <a:xfrm>
              <a:off x="0" y="-38100"/>
              <a:ext cx="4334507" cy="10058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8473853" y="4374305"/>
            <a:ext cx="9474624" cy="4715425"/>
            <a:chOff x="0" y="0"/>
            <a:chExt cx="985690" cy="490568"/>
          </a:xfrm>
        </p:grpSpPr>
        <p:sp>
          <p:nvSpPr>
            <p:cNvPr id="6" name="Freeform 6"/>
            <p:cNvSpPr/>
            <p:nvPr/>
          </p:nvSpPr>
          <p:spPr>
            <a:xfrm>
              <a:off x="0" y="0"/>
              <a:ext cx="985690" cy="490568"/>
            </a:xfrm>
            <a:custGeom>
              <a:avLst/>
              <a:gdLst/>
              <a:ahLst/>
              <a:cxnLst/>
              <a:rect l="l" t="t" r="r" b="b"/>
              <a:pathLst>
                <a:path w="985690" h="490568">
                  <a:moveTo>
                    <a:pt x="32685" y="0"/>
                  </a:moveTo>
                  <a:lnTo>
                    <a:pt x="953005" y="0"/>
                  </a:lnTo>
                  <a:cubicBezTo>
                    <a:pt x="961674" y="0"/>
                    <a:pt x="969987" y="3444"/>
                    <a:pt x="976117" y="9573"/>
                  </a:cubicBezTo>
                  <a:cubicBezTo>
                    <a:pt x="982246" y="15703"/>
                    <a:pt x="985690" y="24016"/>
                    <a:pt x="985690" y="32685"/>
                  </a:cubicBezTo>
                  <a:lnTo>
                    <a:pt x="985690" y="457883"/>
                  </a:lnTo>
                  <a:cubicBezTo>
                    <a:pt x="985690" y="466552"/>
                    <a:pt x="982246" y="474865"/>
                    <a:pt x="976117" y="480995"/>
                  </a:cubicBezTo>
                  <a:cubicBezTo>
                    <a:pt x="969987" y="487124"/>
                    <a:pt x="961674" y="490568"/>
                    <a:pt x="953005" y="490568"/>
                  </a:cubicBezTo>
                  <a:lnTo>
                    <a:pt x="32685" y="490568"/>
                  </a:lnTo>
                  <a:cubicBezTo>
                    <a:pt x="24016" y="490568"/>
                    <a:pt x="15703" y="487124"/>
                    <a:pt x="9573" y="480995"/>
                  </a:cubicBezTo>
                  <a:cubicBezTo>
                    <a:pt x="3444" y="474865"/>
                    <a:pt x="0" y="466552"/>
                    <a:pt x="0" y="457883"/>
                  </a:cubicBezTo>
                  <a:lnTo>
                    <a:pt x="0" y="32685"/>
                  </a:lnTo>
                  <a:cubicBezTo>
                    <a:pt x="0" y="24016"/>
                    <a:pt x="3444" y="15703"/>
                    <a:pt x="9573" y="9573"/>
                  </a:cubicBezTo>
                  <a:cubicBezTo>
                    <a:pt x="15703" y="3444"/>
                    <a:pt x="24016" y="0"/>
                    <a:pt x="32685" y="0"/>
                  </a:cubicBezTo>
                  <a:close/>
                </a:path>
              </a:pathLst>
            </a:custGeom>
            <a:blipFill>
              <a:blip r:embed="rId2"/>
              <a:stretch>
                <a:fillRect l="-4096" r="-4096"/>
              </a:stretch>
            </a:blipFill>
            <a:ln w="66675" cap="rnd">
              <a:solidFill>
                <a:srgbClr val="FFFFFF"/>
              </a:solidFill>
              <a:prstDash val="solid"/>
              <a:round/>
            </a:ln>
          </p:spPr>
          <p:txBody>
            <a:bodyPr/>
            <a:lstStyle/>
            <a:p>
              <a:endParaRPr lang="en-US"/>
            </a:p>
          </p:txBody>
        </p:sp>
      </p:grpSp>
      <p:sp>
        <p:nvSpPr>
          <p:cNvPr id="7" name="TextBox 7"/>
          <p:cNvSpPr txBox="1"/>
          <p:nvPr/>
        </p:nvSpPr>
        <p:spPr>
          <a:xfrm>
            <a:off x="1314450" y="721552"/>
            <a:ext cx="4095750" cy="1019944"/>
          </a:xfrm>
          <a:prstGeom prst="rect">
            <a:avLst/>
          </a:prstGeom>
        </p:spPr>
        <p:txBody>
          <a:bodyPr wrap="square" lIns="0" tIns="0" rIns="0" bIns="0" rtlCol="0" anchor="t">
            <a:spAutoFit/>
          </a:bodyPr>
          <a:lstStyle/>
          <a:p>
            <a:pPr algn="l">
              <a:lnSpc>
                <a:spcPts val="8330"/>
              </a:lnSpc>
            </a:pPr>
            <a:r>
              <a:rPr lang="en-US" sz="5950" b="1" dirty="0">
                <a:solidFill>
                  <a:srgbClr val="134074"/>
                </a:solidFill>
                <a:latin typeface="DM Sans Bold"/>
                <a:ea typeface="DM Sans Bold"/>
                <a:cs typeface="DM Sans Bold"/>
                <a:sym typeface="DM Sans Bold"/>
              </a:rPr>
              <a:t>Test API</a:t>
            </a:r>
          </a:p>
        </p:txBody>
      </p:sp>
      <p:sp>
        <p:nvSpPr>
          <p:cNvPr id="8" name="TextBox 8"/>
          <p:cNvSpPr txBox="1"/>
          <p:nvPr/>
        </p:nvSpPr>
        <p:spPr>
          <a:xfrm>
            <a:off x="1314450" y="3003809"/>
            <a:ext cx="6701045" cy="2197690"/>
          </a:xfrm>
          <a:prstGeom prst="rect">
            <a:avLst/>
          </a:prstGeom>
        </p:spPr>
        <p:txBody>
          <a:bodyPr lIns="0" tIns="0" rIns="0" bIns="0" rtlCol="0" anchor="t">
            <a:spAutoFit/>
          </a:bodyPr>
          <a:lstStyle/>
          <a:p>
            <a:pPr algn="just">
              <a:lnSpc>
                <a:spcPts val="4427"/>
              </a:lnSpc>
            </a:pPr>
            <a:r>
              <a:rPr lang="en-US" sz="2544" spc="86" dirty="0">
                <a:solidFill>
                  <a:srgbClr val="13315C"/>
                </a:solidFill>
                <a:latin typeface="Libre Baskerville"/>
                <a:ea typeface="Libre Baskerville"/>
                <a:cs typeface="Libre Baskerville"/>
                <a:sym typeface="Libre Baskerville"/>
              </a:rPr>
              <a:t>API </a:t>
            </a:r>
            <a:r>
              <a:rPr lang="en-US" sz="2544" spc="86" dirty="0" err="1">
                <a:solidFill>
                  <a:srgbClr val="13315C"/>
                </a:solidFill>
                <a:latin typeface="Libre Baskerville"/>
                <a:ea typeface="Libre Baskerville"/>
                <a:cs typeface="Libre Baskerville"/>
                <a:sym typeface="Libre Baskerville"/>
              </a:rPr>
              <a:t>được</a:t>
            </a:r>
            <a:r>
              <a:rPr lang="en-US" sz="2544" spc="86" dirty="0">
                <a:solidFill>
                  <a:srgbClr val="13315C"/>
                </a:solidFill>
                <a:latin typeface="Libre Baskerville"/>
                <a:ea typeface="Libre Baskerville"/>
                <a:cs typeface="Libre Baskerville"/>
                <a:sym typeface="Libre Baskerville"/>
              </a:rPr>
              <a:t> </a:t>
            </a:r>
            <a:r>
              <a:rPr lang="en-US" sz="2544" spc="86" dirty="0" err="1">
                <a:solidFill>
                  <a:srgbClr val="13315C"/>
                </a:solidFill>
                <a:latin typeface="Libre Baskerville"/>
                <a:ea typeface="Libre Baskerville"/>
                <a:cs typeface="Libre Baskerville"/>
                <a:sym typeface="Libre Baskerville"/>
              </a:rPr>
              <a:t>kiểm</a:t>
            </a:r>
            <a:r>
              <a:rPr lang="en-US" sz="2544" spc="86" dirty="0">
                <a:solidFill>
                  <a:srgbClr val="13315C"/>
                </a:solidFill>
                <a:latin typeface="Libre Baskerville"/>
                <a:ea typeface="Libre Baskerville"/>
                <a:cs typeface="Libre Baskerville"/>
                <a:sym typeface="Libre Baskerville"/>
              </a:rPr>
              <a:t> </a:t>
            </a:r>
            <a:r>
              <a:rPr lang="en-US" sz="2544" spc="86" dirty="0" err="1">
                <a:solidFill>
                  <a:srgbClr val="13315C"/>
                </a:solidFill>
                <a:latin typeface="Libre Baskerville"/>
                <a:ea typeface="Libre Baskerville"/>
                <a:cs typeface="Libre Baskerville"/>
                <a:sym typeface="Libre Baskerville"/>
              </a:rPr>
              <a:t>thử</a:t>
            </a:r>
            <a:r>
              <a:rPr lang="en-US" sz="2544" spc="86" dirty="0">
                <a:solidFill>
                  <a:srgbClr val="13315C"/>
                </a:solidFill>
                <a:latin typeface="Libre Baskerville"/>
                <a:ea typeface="Libre Baskerville"/>
                <a:cs typeface="Libre Baskerville"/>
                <a:sym typeface="Libre Baskerville"/>
              </a:rPr>
              <a:t> </a:t>
            </a:r>
            <a:r>
              <a:rPr lang="en-US" sz="2544" spc="86" dirty="0" err="1">
                <a:solidFill>
                  <a:srgbClr val="13315C"/>
                </a:solidFill>
                <a:latin typeface="Libre Baskerville"/>
                <a:ea typeface="Libre Baskerville"/>
                <a:cs typeface="Libre Baskerville"/>
                <a:sym typeface="Libre Baskerville"/>
              </a:rPr>
              <a:t>bằng</a:t>
            </a:r>
            <a:r>
              <a:rPr lang="en-US" sz="2544" spc="86" dirty="0">
                <a:solidFill>
                  <a:srgbClr val="13315C"/>
                </a:solidFill>
                <a:latin typeface="Libre Baskerville"/>
                <a:ea typeface="Libre Baskerville"/>
                <a:cs typeface="Libre Baskerville"/>
                <a:sym typeface="Libre Baskerville"/>
              </a:rPr>
              <a:t> </a:t>
            </a:r>
            <a:r>
              <a:rPr lang="en-US" sz="2544" spc="86" dirty="0" err="1">
                <a:solidFill>
                  <a:srgbClr val="13315C"/>
                </a:solidFill>
                <a:latin typeface="Libre Baskerville"/>
                <a:ea typeface="Libre Baskerville"/>
                <a:cs typeface="Libre Baskerville"/>
                <a:sym typeface="Libre Baskerville"/>
              </a:rPr>
              <a:t>các</a:t>
            </a:r>
            <a:r>
              <a:rPr lang="en-US" sz="2544" spc="86" dirty="0">
                <a:solidFill>
                  <a:srgbClr val="13315C"/>
                </a:solidFill>
                <a:latin typeface="Libre Baskerville"/>
                <a:ea typeface="Libre Baskerville"/>
                <a:cs typeface="Libre Baskerville"/>
                <a:sym typeface="Libre Baskerville"/>
              </a:rPr>
              <a:t> </a:t>
            </a:r>
            <a:r>
              <a:rPr lang="en-US" sz="2544" spc="86" dirty="0" err="1">
                <a:solidFill>
                  <a:srgbClr val="13315C"/>
                </a:solidFill>
                <a:latin typeface="Libre Baskerville"/>
                <a:ea typeface="Libre Baskerville"/>
                <a:cs typeface="Libre Baskerville"/>
                <a:sym typeface="Libre Baskerville"/>
              </a:rPr>
              <a:t>công</a:t>
            </a:r>
            <a:r>
              <a:rPr lang="en-US" sz="2544" spc="86" dirty="0">
                <a:solidFill>
                  <a:srgbClr val="13315C"/>
                </a:solidFill>
                <a:latin typeface="Libre Baskerville"/>
                <a:ea typeface="Libre Baskerville"/>
                <a:cs typeface="Libre Baskerville"/>
                <a:sym typeface="Libre Baskerville"/>
              </a:rPr>
              <a:t> </a:t>
            </a:r>
            <a:r>
              <a:rPr lang="en-US" sz="2544" spc="86" dirty="0" err="1">
                <a:solidFill>
                  <a:srgbClr val="13315C"/>
                </a:solidFill>
                <a:latin typeface="Libre Baskerville"/>
                <a:ea typeface="Libre Baskerville"/>
                <a:cs typeface="Libre Baskerville"/>
                <a:sym typeface="Libre Baskerville"/>
              </a:rPr>
              <a:t>cụ</a:t>
            </a:r>
            <a:r>
              <a:rPr lang="en-US" sz="2544" spc="86" dirty="0">
                <a:solidFill>
                  <a:srgbClr val="13315C"/>
                </a:solidFill>
                <a:latin typeface="Libre Baskerville"/>
                <a:ea typeface="Libre Baskerville"/>
                <a:cs typeface="Libre Baskerville"/>
                <a:sym typeface="Libre Baskerville"/>
              </a:rPr>
              <a:t> </a:t>
            </a:r>
            <a:r>
              <a:rPr lang="en-US" sz="2544" spc="86" dirty="0" err="1">
                <a:solidFill>
                  <a:srgbClr val="13315C"/>
                </a:solidFill>
                <a:latin typeface="Libre Baskerville"/>
                <a:ea typeface="Libre Baskerville"/>
                <a:cs typeface="Libre Baskerville"/>
                <a:sym typeface="Libre Baskerville"/>
              </a:rPr>
              <a:t>như</a:t>
            </a:r>
            <a:r>
              <a:rPr lang="en-US" sz="2544" spc="86" dirty="0">
                <a:solidFill>
                  <a:srgbClr val="13315C"/>
                </a:solidFill>
                <a:latin typeface="Libre Baskerville"/>
                <a:ea typeface="Libre Baskerville"/>
                <a:cs typeface="Libre Baskerville"/>
                <a:sym typeface="Libre Baskerville"/>
              </a:rPr>
              <a:t> Postman, </a:t>
            </a:r>
            <a:r>
              <a:rPr lang="en-US" sz="2544" spc="86" dirty="0" err="1">
                <a:solidFill>
                  <a:srgbClr val="13315C"/>
                </a:solidFill>
                <a:latin typeface="Libre Baskerville"/>
                <a:ea typeface="Libre Baskerville"/>
                <a:cs typeface="Libre Baskerville"/>
                <a:sym typeface="Libre Baskerville"/>
              </a:rPr>
              <a:t>giúp</a:t>
            </a:r>
            <a:r>
              <a:rPr lang="en-US" sz="2544" spc="86" dirty="0">
                <a:solidFill>
                  <a:srgbClr val="13315C"/>
                </a:solidFill>
                <a:latin typeface="Libre Baskerville"/>
                <a:ea typeface="Libre Baskerville"/>
                <a:cs typeface="Libre Baskerville"/>
                <a:sym typeface="Libre Baskerville"/>
              </a:rPr>
              <a:t> </a:t>
            </a:r>
            <a:r>
              <a:rPr lang="en-US" sz="2544" spc="86" dirty="0" err="1">
                <a:solidFill>
                  <a:srgbClr val="13315C"/>
                </a:solidFill>
                <a:latin typeface="Libre Baskerville"/>
                <a:ea typeface="Libre Baskerville"/>
                <a:cs typeface="Libre Baskerville"/>
                <a:sym typeface="Libre Baskerville"/>
              </a:rPr>
              <a:t>gửi</a:t>
            </a:r>
            <a:r>
              <a:rPr lang="en-US" sz="2544" spc="86" dirty="0">
                <a:solidFill>
                  <a:srgbClr val="13315C"/>
                </a:solidFill>
                <a:latin typeface="Libre Baskerville"/>
                <a:ea typeface="Libre Baskerville"/>
                <a:cs typeface="Libre Baskerville"/>
                <a:sym typeface="Libre Baskerville"/>
              </a:rPr>
              <a:t> request, </a:t>
            </a:r>
            <a:r>
              <a:rPr lang="en-US" sz="2544" spc="86" dirty="0" err="1">
                <a:solidFill>
                  <a:srgbClr val="13315C"/>
                </a:solidFill>
                <a:latin typeface="Libre Baskerville"/>
                <a:ea typeface="Libre Baskerville"/>
                <a:cs typeface="Libre Baskerville"/>
                <a:sym typeface="Libre Baskerville"/>
              </a:rPr>
              <a:t>kiểm</a:t>
            </a:r>
            <a:r>
              <a:rPr lang="en-US" sz="2544" spc="86" dirty="0">
                <a:solidFill>
                  <a:srgbClr val="13315C"/>
                </a:solidFill>
                <a:latin typeface="Libre Baskerville"/>
                <a:ea typeface="Libre Baskerville"/>
                <a:cs typeface="Libre Baskerville"/>
                <a:sym typeface="Libre Baskerville"/>
              </a:rPr>
              <a:t> </a:t>
            </a:r>
            <a:r>
              <a:rPr lang="en-US" sz="2544" spc="86" dirty="0" err="1">
                <a:solidFill>
                  <a:srgbClr val="13315C"/>
                </a:solidFill>
                <a:latin typeface="Libre Baskerville"/>
                <a:ea typeface="Libre Baskerville"/>
                <a:cs typeface="Libre Baskerville"/>
                <a:sym typeface="Libre Baskerville"/>
              </a:rPr>
              <a:t>tra</a:t>
            </a:r>
            <a:r>
              <a:rPr lang="en-US" sz="2544" spc="86" dirty="0">
                <a:solidFill>
                  <a:srgbClr val="13315C"/>
                </a:solidFill>
                <a:latin typeface="Libre Baskerville"/>
                <a:ea typeface="Libre Baskerville"/>
                <a:cs typeface="Libre Baskerville"/>
                <a:sym typeface="Libre Baskerville"/>
              </a:rPr>
              <a:t> response, </a:t>
            </a:r>
            <a:r>
              <a:rPr lang="en-US" sz="2544" spc="86" dirty="0" err="1">
                <a:solidFill>
                  <a:srgbClr val="13315C"/>
                </a:solidFill>
                <a:latin typeface="Libre Baskerville"/>
                <a:ea typeface="Libre Baskerville"/>
                <a:cs typeface="Libre Baskerville"/>
                <a:sym typeface="Libre Baskerville"/>
              </a:rPr>
              <a:t>mã</a:t>
            </a:r>
            <a:r>
              <a:rPr lang="en-US" sz="2544" spc="86" dirty="0">
                <a:solidFill>
                  <a:srgbClr val="13315C"/>
                </a:solidFill>
                <a:latin typeface="Libre Baskerville"/>
                <a:ea typeface="Libre Baskerville"/>
                <a:cs typeface="Libre Baskerville"/>
                <a:sym typeface="Libre Baskerville"/>
              </a:rPr>
              <a:t> </a:t>
            </a:r>
            <a:r>
              <a:rPr lang="en-US" sz="2544" spc="86" dirty="0" err="1">
                <a:solidFill>
                  <a:srgbClr val="13315C"/>
                </a:solidFill>
                <a:latin typeface="Libre Baskerville"/>
                <a:ea typeface="Libre Baskerville"/>
                <a:cs typeface="Libre Baskerville"/>
                <a:sym typeface="Libre Baskerville"/>
              </a:rPr>
              <a:t>trạng</a:t>
            </a:r>
            <a:r>
              <a:rPr lang="en-US" sz="2544" spc="86" dirty="0">
                <a:solidFill>
                  <a:srgbClr val="13315C"/>
                </a:solidFill>
                <a:latin typeface="Libre Baskerville"/>
                <a:ea typeface="Libre Baskerville"/>
                <a:cs typeface="Libre Baskerville"/>
                <a:sym typeface="Libre Baskerville"/>
              </a:rPr>
              <a:t> </a:t>
            </a:r>
            <a:r>
              <a:rPr lang="en-US" sz="2544" spc="86" dirty="0" err="1">
                <a:solidFill>
                  <a:srgbClr val="13315C"/>
                </a:solidFill>
                <a:latin typeface="Libre Baskerville"/>
                <a:ea typeface="Libre Baskerville"/>
                <a:cs typeface="Libre Baskerville"/>
                <a:sym typeface="Libre Baskerville"/>
              </a:rPr>
              <a:t>thái</a:t>
            </a:r>
            <a:r>
              <a:rPr lang="en-US" sz="2544" spc="86" dirty="0">
                <a:solidFill>
                  <a:srgbClr val="13315C"/>
                </a:solidFill>
                <a:latin typeface="Libre Baskerville"/>
                <a:ea typeface="Libre Baskerville"/>
                <a:cs typeface="Libre Baskerville"/>
                <a:sym typeface="Libre Baskerville"/>
              </a:rPr>
              <a:t> HTTP </a:t>
            </a:r>
            <a:r>
              <a:rPr lang="en-US" sz="2544" spc="86" dirty="0" err="1">
                <a:solidFill>
                  <a:srgbClr val="13315C"/>
                </a:solidFill>
                <a:latin typeface="Libre Baskerville"/>
                <a:ea typeface="Libre Baskerville"/>
                <a:cs typeface="Libre Baskerville"/>
                <a:sym typeface="Libre Baskerville"/>
              </a:rPr>
              <a:t>và</a:t>
            </a:r>
            <a:r>
              <a:rPr lang="en-US" sz="2544" spc="86" dirty="0">
                <a:solidFill>
                  <a:srgbClr val="13315C"/>
                </a:solidFill>
                <a:latin typeface="Libre Baskerville"/>
                <a:ea typeface="Libre Baskerville"/>
                <a:cs typeface="Libre Baskerville"/>
                <a:sym typeface="Libre Baskerville"/>
              </a:rPr>
              <a:t> </a:t>
            </a:r>
            <a:r>
              <a:rPr lang="en-US" sz="2544" spc="86" dirty="0" err="1">
                <a:solidFill>
                  <a:srgbClr val="13315C"/>
                </a:solidFill>
                <a:latin typeface="Libre Baskerville"/>
                <a:ea typeface="Libre Baskerville"/>
                <a:cs typeface="Libre Baskerville"/>
                <a:sym typeface="Libre Baskerville"/>
              </a:rPr>
              <a:t>dữ</a:t>
            </a:r>
            <a:r>
              <a:rPr lang="en-US" sz="2544" spc="86" dirty="0">
                <a:solidFill>
                  <a:srgbClr val="13315C"/>
                </a:solidFill>
                <a:latin typeface="Libre Baskerville"/>
                <a:ea typeface="Libre Baskerville"/>
                <a:cs typeface="Libre Baskerville"/>
                <a:sym typeface="Libre Baskerville"/>
              </a:rPr>
              <a:t> </a:t>
            </a:r>
            <a:r>
              <a:rPr lang="en-US" sz="2544" spc="86" dirty="0" err="1">
                <a:solidFill>
                  <a:srgbClr val="13315C"/>
                </a:solidFill>
                <a:latin typeface="Libre Baskerville"/>
                <a:ea typeface="Libre Baskerville"/>
                <a:cs typeface="Libre Baskerville"/>
                <a:sym typeface="Libre Baskerville"/>
              </a:rPr>
              <a:t>liệu</a:t>
            </a:r>
            <a:r>
              <a:rPr lang="en-US" sz="2544" spc="86" dirty="0">
                <a:solidFill>
                  <a:srgbClr val="13315C"/>
                </a:solidFill>
                <a:latin typeface="Libre Baskerville"/>
                <a:ea typeface="Libre Baskerville"/>
                <a:cs typeface="Libre Baskerville"/>
                <a:sym typeface="Libre Baskerville"/>
              </a:rPr>
              <a:t> JSON </a:t>
            </a:r>
            <a:r>
              <a:rPr lang="en-US" sz="2544" spc="86" dirty="0" err="1">
                <a:solidFill>
                  <a:srgbClr val="13315C"/>
                </a:solidFill>
                <a:latin typeface="Libre Baskerville"/>
                <a:ea typeface="Libre Baskerville"/>
                <a:cs typeface="Libre Baskerville"/>
                <a:sym typeface="Libre Baskerville"/>
              </a:rPr>
              <a:t>một</a:t>
            </a:r>
            <a:r>
              <a:rPr lang="en-US" sz="2544" spc="86" dirty="0">
                <a:solidFill>
                  <a:srgbClr val="13315C"/>
                </a:solidFill>
                <a:latin typeface="Libre Baskerville"/>
                <a:ea typeface="Libre Baskerville"/>
                <a:cs typeface="Libre Baskerville"/>
                <a:sym typeface="Libre Baskerville"/>
              </a:rPr>
              <a:t> </a:t>
            </a:r>
            <a:r>
              <a:rPr lang="en-US" sz="2544" spc="86" dirty="0" err="1">
                <a:solidFill>
                  <a:srgbClr val="13315C"/>
                </a:solidFill>
                <a:latin typeface="Libre Baskerville"/>
                <a:ea typeface="Libre Baskerville"/>
                <a:cs typeface="Libre Baskerville"/>
                <a:sym typeface="Libre Baskerville"/>
              </a:rPr>
              <a:t>cách</a:t>
            </a:r>
            <a:r>
              <a:rPr lang="en-US" sz="2544" spc="86" dirty="0">
                <a:solidFill>
                  <a:srgbClr val="13315C"/>
                </a:solidFill>
                <a:latin typeface="Libre Baskerville"/>
                <a:ea typeface="Libre Baskerville"/>
                <a:cs typeface="Libre Baskerville"/>
                <a:sym typeface="Libre Baskerville"/>
              </a:rPr>
              <a:t> </a:t>
            </a:r>
            <a:r>
              <a:rPr lang="en-US" sz="2544" spc="86" dirty="0" err="1">
                <a:solidFill>
                  <a:srgbClr val="13315C"/>
                </a:solidFill>
                <a:latin typeface="Libre Baskerville"/>
                <a:ea typeface="Libre Baskerville"/>
                <a:cs typeface="Libre Baskerville"/>
                <a:sym typeface="Libre Baskerville"/>
              </a:rPr>
              <a:t>trực</a:t>
            </a:r>
            <a:r>
              <a:rPr lang="en-US" sz="2544" spc="86" dirty="0">
                <a:solidFill>
                  <a:srgbClr val="13315C"/>
                </a:solidFill>
                <a:latin typeface="Libre Baskerville"/>
                <a:ea typeface="Libre Baskerville"/>
                <a:cs typeface="Libre Baskerville"/>
                <a:sym typeface="Libre Baskerville"/>
              </a:rPr>
              <a:t> </a:t>
            </a:r>
            <a:r>
              <a:rPr lang="en-US" sz="2544" spc="86" dirty="0" err="1">
                <a:solidFill>
                  <a:srgbClr val="13315C"/>
                </a:solidFill>
                <a:latin typeface="Libre Baskerville"/>
                <a:ea typeface="Libre Baskerville"/>
                <a:cs typeface="Libre Baskerville"/>
                <a:sym typeface="Libre Baskerville"/>
              </a:rPr>
              <a:t>quan</a:t>
            </a:r>
            <a:r>
              <a:rPr lang="en-US" sz="2544" spc="86" dirty="0">
                <a:solidFill>
                  <a:srgbClr val="13315C"/>
                </a:solidFill>
                <a:latin typeface="Libre Baskerville"/>
                <a:ea typeface="Libre Baskerville"/>
                <a:cs typeface="Libre Baskerville"/>
                <a:sym typeface="Libre Baskerville"/>
              </a:rPr>
              <a:t>.</a:t>
            </a:r>
          </a:p>
        </p:txBody>
      </p:sp>
      <p:sp>
        <p:nvSpPr>
          <p:cNvPr id="9" name="TextBox 9"/>
          <p:cNvSpPr txBox="1"/>
          <p:nvPr/>
        </p:nvSpPr>
        <p:spPr>
          <a:xfrm>
            <a:off x="8136317" y="9201150"/>
            <a:ext cx="1007683" cy="477695"/>
          </a:xfrm>
          <a:prstGeom prst="rect">
            <a:avLst/>
          </a:prstGeom>
        </p:spPr>
        <p:txBody>
          <a:bodyPr wrap="square" lIns="0" tIns="0" rIns="0" bIns="0" rtlCol="0" anchor="t">
            <a:spAutoFit/>
          </a:bodyPr>
          <a:lstStyle/>
          <a:p>
            <a:pPr algn="ctr">
              <a:lnSpc>
                <a:spcPts val="3920"/>
              </a:lnSpc>
              <a:spcBef>
                <a:spcPct val="0"/>
              </a:spcBef>
            </a:pPr>
            <a:r>
              <a:rPr lang="en-US" sz="2800" dirty="0">
                <a:solidFill>
                  <a:srgbClr val="134074"/>
                </a:solidFill>
                <a:latin typeface="DM Sans"/>
                <a:ea typeface="DM Sans"/>
                <a:cs typeface="DM Sans"/>
                <a:sym typeface="DM Sans"/>
              </a:rPr>
              <a:t>12/20</a:t>
            </a:r>
          </a:p>
        </p:txBody>
      </p:sp>
      <p:sp>
        <p:nvSpPr>
          <p:cNvPr id="10" name="TextBox 10"/>
          <p:cNvSpPr txBox="1"/>
          <p:nvPr/>
        </p:nvSpPr>
        <p:spPr>
          <a:xfrm>
            <a:off x="8650299" y="2445737"/>
            <a:ext cx="9298179" cy="2216290"/>
          </a:xfrm>
          <a:prstGeom prst="rect">
            <a:avLst/>
          </a:prstGeom>
        </p:spPr>
        <p:txBody>
          <a:bodyPr lIns="0" tIns="0" rIns="0" bIns="0" rtlCol="0" anchor="t">
            <a:spAutoFit/>
          </a:bodyPr>
          <a:lstStyle/>
          <a:p>
            <a:pPr algn="just">
              <a:lnSpc>
                <a:spcPts val="4427"/>
              </a:lnSpc>
            </a:pPr>
            <a:r>
              <a:rPr lang="en-US" sz="2544" spc="86">
                <a:solidFill>
                  <a:srgbClr val="13315C"/>
                </a:solidFill>
                <a:latin typeface="Libre Baskerville"/>
                <a:ea typeface="Libre Baskerville"/>
                <a:cs typeface="Libre Baskerville"/>
                <a:sym typeface="Libre Baskerville"/>
              </a:rPr>
              <a:t>Ví dụ : test API quản lý lớp</a:t>
            </a:r>
          </a:p>
          <a:p>
            <a:pPr algn="l">
              <a:lnSpc>
                <a:spcPts val="4427"/>
              </a:lnSpc>
            </a:pPr>
            <a:r>
              <a:rPr lang="en-US" sz="2544" spc="86">
                <a:solidFill>
                  <a:srgbClr val="13315C"/>
                </a:solidFill>
                <a:latin typeface="Libre Baskerville"/>
                <a:ea typeface="Libre Baskerville"/>
                <a:cs typeface="Libre Baskerville"/>
                <a:sym typeface="Libre Baskerville"/>
              </a:rPr>
              <a:t>URL: POST http://localhost:8000/api/class → tạo dữ liệu mới</a:t>
            </a:r>
          </a:p>
          <a:p>
            <a:pPr algn="just">
              <a:lnSpc>
                <a:spcPts val="4427"/>
              </a:lnSpc>
            </a:pPr>
            <a:endParaRPr lang="en-US" sz="2544" spc="86">
              <a:solidFill>
                <a:srgbClr val="13315C"/>
              </a:solidFill>
              <a:latin typeface="Libre Baskerville"/>
              <a:ea typeface="Libre Baskerville"/>
              <a:cs typeface="Libre Baskerville"/>
              <a:sym typeface="Libre Baskervill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EF4ED"/>
        </a:solidFill>
        <a:effectLst/>
      </p:bgPr>
    </p:bg>
    <p:spTree>
      <p:nvGrpSpPr>
        <p:cNvPr id="1" name="">
          <a:extLst>
            <a:ext uri="{FF2B5EF4-FFF2-40B4-BE49-F238E27FC236}">
              <a16:creationId xmlns:a16="http://schemas.microsoft.com/office/drawing/2014/main" id="{A2CE1951-217D-AAC2-E6FF-55B58368E86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4568902-9D22-EC2F-2EDC-7C52F109848F}"/>
              </a:ext>
            </a:extLst>
          </p:cNvPr>
          <p:cNvGrpSpPr/>
          <p:nvPr/>
        </p:nvGrpSpPr>
        <p:grpSpPr>
          <a:xfrm>
            <a:off x="6030308" y="2013807"/>
            <a:ext cx="5219700" cy="188085"/>
            <a:chOff x="0" y="0"/>
            <a:chExt cx="4334507" cy="62488"/>
          </a:xfrm>
        </p:grpSpPr>
        <p:sp>
          <p:nvSpPr>
            <p:cNvPr id="3" name="Freeform 3">
              <a:extLst>
                <a:ext uri="{FF2B5EF4-FFF2-40B4-BE49-F238E27FC236}">
                  <a16:creationId xmlns:a16="http://schemas.microsoft.com/office/drawing/2014/main" id="{713BFD3E-F099-0E38-D478-93D5E5227A74}"/>
                </a:ext>
              </a:extLst>
            </p:cNvPr>
            <p:cNvSpPr/>
            <p:nvPr/>
          </p:nvSpPr>
          <p:spPr>
            <a:xfrm>
              <a:off x="0" y="0"/>
              <a:ext cx="4334507" cy="62488"/>
            </a:xfrm>
            <a:custGeom>
              <a:avLst/>
              <a:gdLst/>
              <a:ahLst/>
              <a:cxnLst/>
              <a:rect l="l" t="t" r="r" b="b"/>
              <a:pathLst>
                <a:path w="4334507" h="62488">
                  <a:moveTo>
                    <a:pt x="0" y="0"/>
                  </a:moveTo>
                  <a:lnTo>
                    <a:pt x="4334507" y="0"/>
                  </a:lnTo>
                  <a:lnTo>
                    <a:pt x="4334507" y="62488"/>
                  </a:lnTo>
                  <a:lnTo>
                    <a:pt x="0" y="62488"/>
                  </a:lnTo>
                  <a:close/>
                </a:path>
              </a:pathLst>
            </a:custGeom>
            <a:solidFill>
              <a:srgbClr val="8DA9C4"/>
            </a:solidFill>
          </p:spPr>
          <p:txBody>
            <a:bodyPr/>
            <a:lstStyle/>
            <a:p>
              <a:endParaRPr lang="en-US"/>
            </a:p>
          </p:txBody>
        </p:sp>
        <p:sp>
          <p:nvSpPr>
            <p:cNvPr id="4" name="TextBox 4">
              <a:extLst>
                <a:ext uri="{FF2B5EF4-FFF2-40B4-BE49-F238E27FC236}">
                  <a16:creationId xmlns:a16="http://schemas.microsoft.com/office/drawing/2014/main" id="{F59A08B2-29EC-B7EE-04DE-80FAF5AEF73A}"/>
                </a:ext>
              </a:extLst>
            </p:cNvPr>
            <p:cNvSpPr txBox="1"/>
            <p:nvPr/>
          </p:nvSpPr>
          <p:spPr>
            <a:xfrm>
              <a:off x="0" y="-38100"/>
              <a:ext cx="4334507" cy="100588"/>
            </a:xfrm>
            <a:prstGeom prst="rect">
              <a:avLst/>
            </a:prstGeom>
          </p:spPr>
          <p:txBody>
            <a:bodyPr lIns="50800" tIns="50800" rIns="50800" bIns="50800" rtlCol="0" anchor="ctr"/>
            <a:lstStyle/>
            <a:p>
              <a:pPr algn="ctr">
                <a:lnSpc>
                  <a:spcPts val="2659"/>
                </a:lnSpc>
              </a:pPr>
              <a:endParaRPr/>
            </a:p>
          </p:txBody>
        </p:sp>
      </p:grpSp>
      <p:sp>
        <p:nvSpPr>
          <p:cNvPr id="7" name="TextBox 7">
            <a:extLst>
              <a:ext uri="{FF2B5EF4-FFF2-40B4-BE49-F238E27FC236}">
                <a16:creationId xmlns:a16="http://schemas.microsoft.com/office/drawing/2014/main" id="{D76BD2BC-55F5-AC88-6DFC-6365F468B29B}"/>
              </a:ext>
            </a:extLst>
          </p:cNvPr>
          <p:cNvSpPr txBox="1"/>
          <p:nvPr/>
        </p:nvSpPr>
        <p:spPr>
          <a:xfrm>
            <a:off x="6534150" y="617680"/>
            <a:ext cx="4095750" cy="1019944"/>
          </a:xfrm>
          <a:prstGeom prst="rect">
            <a:avLst/>
          </a:prstGeom>
        </p:spPr>
        <p:txBody>
          <a:bodyPr wrap="square" lIns="0" tIns="0" rIns="0" bIns="0" rtlCol="0" anchor="t">
            <a:spAutoFit/>
          </a:bodyPr>
          <a:lstStyle/>
          <a:p>
            <a:pPr algn="ctr">
              <a:lnSpc>
                <a:spcPts val="8330"/>
              </a:lnSpc>
            </a:pPr>
            <a:r>
              <a:rPr lang="en-US" sz="5950" b="1" dirty="0" err="1">
                <a:solidFill>
                  <a:srgbClr val="134074"/>
                </a:solidFill>
                <a:latin typeface="DM Sans Bold"/>
                <a:ea typeface="DM Sans Bold"/>
                <a:cs typeface="DM Sans Bold"/>
                <a:sym typeface="DM Sans Bold"/>
              </a:rPr>
              <a:t>Kết</a:t>
            </a:r>
            <a:r>
              <a:rPr lang="en-US" sz="5950" b="1" dirty="0">
                <a:solidFill>
                  <a:srgbClr val="134074"/>
                </a:solidFill>
                <a:latin typeface="DM Sans Bold"/>
                <a:ea typeface="DM Sans Bold"/>
                <a:cs typeface="DM Sans Bold"/>
                <a:sym typeface="DM Sans Bold"/>
              </a:rPr>
              <a:t> </a:t>
            </a:r>
            <a:r>
              <a:rPr lang="en-US" sz="5950" b="1" dirty="0" err="1">
                <a:solidFill>
                  <a:srgbClr val="134074"/>
                </a:solidFill>
                <a:latin typeface="DM Sans Bold"/>
                <a:ea typeface="DM Sans Bold"/>
                <a:cs typeface="DM Sans Bold"/>
                <a:sym typeface="DM Sans Bold"/>
              </a:rPr>
              <a:t>luận</a:t>
            </a:r>
            <a:endParaRPr lang="en-US" sz="5950" b="1" dirty="0">
              <a:solidFill>
                <a:srgbClr val="134074"/>
              </a:solidFill>
              <a:latin typeface="DM Sans Bold"/>
              <a:ea typeface="DM Sans Bold"/>
              <a:cs typeface="DM Sans Bold"/>
              <a:sym typeface="DM Sans Bold"/>
            </a:endParaRPr>
          </a:p>
        </p:txBody>
      </p:sp>
      <p:sp>
        <p:nvSpPr>
          <p:cNvPr id="8" name="TextBox 8">
            <a:extLst>
              <a:ext uri="{FF2B5EF4-FFF2-40B4-BE49-F238E27FC236}">
                <a16:creationId xmlns:a16="http://schemas.microsoft.com/office/drawing/2014/main" id="{9F26F360-335A-0FC5-EB58-110756446E45}"/>
              </a:ext>
            </a:extLst>
          </p:cNvPr>
          <p:cNvSpPr txBox="1"/>
          <p:nvPr/>
        </p:nvSpPr>
        <p:spPr>
          <a:xfrm>
            <a:off x="1314450" y="3003809"/>
            <a:ext cx="14535150" cy="2771464"/>
          </a:xfrm>
          <a:prstGeom prst="rect">
            <a:avLst/>
          </a:prstGeom>
        </p:spPr>
        <p:txBody>
          <a:bodyPr wrap="square" lIns="0" tIns="0" rIns="0" bIns="0" rtlCol="0" anchor="t">
            <a:spAutoFit/>
          </a:bodyPr>
          <a:lstStyle/>
          <a:p>
            <a:pPr algn="ctr">
              <a:lnSpc>
                <a:spcPts val="4427"/>
              </a:lnSpc>
            </a:pPr>
            <a:r>
              <a:rPr lang="vi-VN" sz="2800" dirty="0">
                <a:solidFill>
                  <a:schemeClr val="tx2">
                    <a:lumMod val="75000"/>
                  </a:schemeClr>
                </a:solidFill>
              </a:rPr>
              <a:t>Đề tài đã làm rõ các khái niệm cơ bản về API và kiến trúc RESTful, đồng thời trình bày các nguyên tắc thiết kế RESTful API đúng chuẩn. Thông qua việc xây dựng và kiểm thử hệ thống API bằng Node.js, đề tài giúp hiểu rõ cách ánh xạ CRUD với HTTP methods, sử dụng HTTP status codes và trao đổi dữ liệu bằng định dạng JSON. Kết quả cho thấy RESTful API là giải pháp hiệu quả để kết nối frontend và backend trong các ứng dụng web.</a:t>
            </a:r>
            <a:endParaRPr lang="en-US" sz="2544" spc="86" dirty="0">
              <a:solidFill>
                <a:schemeClr val="tx2">
                  <a:lumMod val="75000"/>
                </a:schemeClr>
              </a:solidFill>
              <a:latin typeface="Libre Baskerville"/>
              <a:ea typeface="Libre Baskerville"/>
              <a:cs typeface="Libre Baskerville"/>
              <a:sym typeface="Libre Baskerville"/>
            </a:endParaRPr>
          </a:p>
        </p:txBody>
      </p:sp>
      <p:sp>
        <p:nvSpPr>
          <p:cNvPr id="9" name="TextBox 9">
            <a:extLst>
              <a:ext uri="{FF2B5EF4-FFF2-40B4-BE49-F238E27FC236}">
                <a16:creationId xmlns:a16="http://schemas.microsoft.com/office/drawing/2014/main" id="{167CBD5F-57B2-0EC4-268C-BFF38525A5C5}"/>
              </a:ext>
            </a:extLst>
          </p:cNvPr>
          <p:cNvSpPr txBox="1"/>
          <p:nvPr/>
        </p:nvSpPr>
        <p:spPr>
          <a:xfrm>
            <a:off x="8136317" y="9201150"/>
            <a:ext cx="1007683" cy="477695"/>
          </a:xfrm>
          <a:prstGeom prst="rect">
            <a:avLst/>
          </a:prstGeom>
        </p:spPr>
        <p:txBody>
          <a:bodyPr wrap="square" lIns="0" tIns="0" rIns="0" bIns="0" rtlCol="0" anchor="t">
            <a:spAutoFit/>
          </a:bodyPr>
          <a:lstStyle/>
          <a:p>
            <a:pPr algn="ctr">
              <a:lnSpc>
                <a:spcPts val="3920"/>
              </a:lnSpc>
              <a:spcBef>
                <a:spcPct val="0"/>
              </a:spcBef>
            </a:pPr>
            <a:r>
              <a:rPr lang="en-US" sz="2800" dirty="0">
                <a:solidFill>
                  <a:srgbClr val="134074"/>
                </a:solidFill>
                <a:latin typeface="DM Sans"/>
                <a:ea typeface="DM Sans"/>
                <a:cs typeface="DM Sans"/>
                <a:sym typeface="DM Sans"/>
              </a:rPr>
              <a:t>12/20</a:t>
            </a:r>
          </a:p>
        </p:txBody>
      </p:sp>
    </p:spTree>
    <p:extLst>
      <p:ext uri="{BB962C8B-B14F-4D97-AF65-F5344CB8AC3E}">
        <p14:creationId xmlns:p14="http://schemas.microsoft.com/office/powerpoint/2010/main" val="2006893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EF4ED"/>
        </a:solidFill>
        <a:effectLst/>
      </p:bgPr>
    </p:bg>
    <p:spTree>
      <p:nvGrpSpPr>
        <p:cNvPr id="1" name="">
          <a:extLst>
            <a:ext uri="{FF2B5EF4-FFF2-40B4-BE49-F238E27FC236}">
              <a16:creationId xmlns:a16="http://schemas.microsoft.com/office/drawing/2014/main" id="{D213C5E6-4AA5-2307-F752-2D0D9836F38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73AD5CD-5710-8618-803E-44E80F9C1909}"/>
              </a:ext>
            </a:extLst>
          </p:cNvPr>
          <p:cNvGrpSpPr/>
          <p:nvPr/>
        </p:nvGrpSpPr>
        <p:grpSpPr>
          <a:xfrm>
            <a:off x="6030308" y="2013807"/>
            <a:ext cx="5219700" cy="188085"/>
            <a:chOff x="0" y="0"/>
            <a:chExt cx="4334507" cy="62488"/>
          </a:xfrm>
        </p:grpSpPr>
        <p:sp>
          <p:nvSpPr>
            <p:cNvPr id="3" name="Freeform 3">
              <a:extLst>
                <a:ext uri="{FF2B5EF4-FFF2-40B4-BE49-F238E27FC236}">
                  <a16:creationId xmlns:a16="http://schemas.microsoft.com/office/drawing/2014/main" id="{3D6345A9-D9AB-D8F5-F528-A240682E5E2D}"/>
                </a:ext>
              </a:extLst>
            </p:cNvPr>
            <p:cNvSpPr/>
            <p:nvPr/>
          </p:nvSpPr>
          <p:spPr>
            <a:xfrm>
              <a:off x="0" y="0"/>
              <a:ext cx="4334507" cy="62488"/>
            </a:xfrm>
            <a:custGeom>
              <a:avLst/>
              <a:gdLst/>
              <a:ahLst/>
              <a:cxnLst/>
              <a:rect l="l" t="t" r="r" b="b"/>
              <a:pathLst>
                <a:path w="4334507" h="62488">
                  <a:moveTo>
                    <a:pt x="0" y="0"/>
                  </a:moveTo>
                  <a:lnTo>
                    <a:pt x="4334507" y="0"/>
                  </a:lnTo>
                  <a:lnTo>
                    <a:pt x="4334507" y="62488"/>
                  </a:lnTo>
                  <a:lnTo>
                    <a:pt x="0" y="62488"/>
                  </a:lnTo>
                  <a:close/>
                </a:path>
              </a:pathLst>
            </a:custGeom>
            <a:solidFill>
              <a:srgbClr val="8DA9C4"/>
            </a:solidFill>
          </p:spPr>
          <p:txBody>
            <a:bodyPr/>
            <a:lstStyle/>
            <a:p>
              <a:endParaRPr lang="en-US"/>
            </a:p>
          </p:txBody>
        </p:sp>
        <p:sp>
          <p:nvSpPr>
            <p:cNvPr id="4" name="TextBox 4">
              <a:extLst>
                <a:ext uri="{FF2B5EF4-FFF2-40B4-BE49-F238E27FC236}">
                  <a16:creationId xmlns:a16="http://schemas.microsoft.com/office/drawing/2014/main" id="{B1889AB2-561E-683F-1B7A-163455346AC7}"/>
                </a:ext>
              </a:extLst>
            </p:cNvPr>
            <p:cNvSpPr txBox="1"/>
            <p:nvPr/>
          </p:nvSpPr>
          <p:spPr>
            <a:xfrm>
              <a:off x="0" y="-38100"/>
              <a:ext cx="4334507" cy="100588"/>
            </a:xfrm>
            <a:prstGeom prst="rect">
              <a:avLst/>
            </a:prstGeom>
          </p:spPr>
          <p:txBody>
            <a:bodyPr lIns="50800" tIns="50800" rIns="50800" bIns="50800" rtlCol="0" anchor="ctr"/>
            <a:lstStyle/>
            <a:p>
              <a:pPr algn="ctr">
                <a:lnSpc>
                  <a:spcPts val="2659"/>
                </a:lnSpc>
              </a:pPr>
              <a:endParaRPr/>
            </a:p>
          </p:txBody>
        </p:sp>
      </p:grpSp>
      <p:sp>
        <p:nvSpPr>
          <p:cNvPr id="7" name="TextBox 7">
            <a:extLst>
              <a:ext uri="{FF2B5EF4-FFF2-40B4-BE49-F238E27FC236}">
                <a16:creationId xmlns:a16="http://schemas.microsoft.com/office/drawing/2014/main" id="{FF374001-4BA9-C1ED-F109-E94D57919EB2}"/>
              </a:ext>
            </a:extLst>
          </p:cNvPr>
          <p:cNvSpPr txBox="1"/>
          <p:nvPr/>
        </p:nvSpPr>
        <p:spPr>
          <a:xfrm>
            <a:off x="5315933" y="594124"/>
            <a:ext cx="6648450" cy="1006173"/>
          </a:xfrm>
          <a:prstGeom prst="rect">
            <a:avLst/>
          </a:prstGeom>
        </p:spPr>
        <p:txBody>
          <a:bodyPr wrap="square" lIns="0" tIns="0" rIns="0" bIns="0" rtlCol="0" anchor="t">
            <a:spAutoFit/>
          </a:bodyPr>
          <a:lstStyle/>
          <a:p>
            <a:pPr algn="ctr">
              <a:lnSpc>
                <a:spcPts val="8330"/>
              </a:lnSpc>
            </a:pPr>
            <a:r>
              <a:rPr lang="en-US" sz="5950" b="1" dirty="0" err="1">
                <a:solidFill>
                  <a:srgbClr val="134074"/>
                </a:solidFill>
                <a:latin typeface="DM Sans Bold"/>
                <a:ea typeface="DM Sans Bold"/>
                <a:cs typeface="DM Sans Bold"/>
                <a:sym typeface="DM Sans Bold"/>
              </a:rPr>
              <a:t>Hướng</a:t>
            </a:r>
            <a:r>
              <a:rPr lang="en-US" sz="5950" b="1" dirty="0">
                <a:solidFill>
                  <a:srgbClr val="134074"/>
                </a:solidFill>
                <a:latin typeface="DM Sans Bold"/>
                <a:ea typeface="DM Sans Bold"/>
                <a:cs typeface="DM Sans Bold"/>
                <a:sym typeface="DM Sans Bold"/>
              </a:rPr>
              <a:t> </a:t>
            </a:r>
            <a:r>
              <a:rPr lang="en-US" sz="5950" b="1" dirty="0" err="1">
                <a:solidFill>
                  <a:srgbClr val="134074"/>
                </a:solidFill>
                <a:latin typeface="DM Sans Bold"/>
                <a:ea typeface="DM Sans Bold"/>
                <a:cs typeface="DM Sans Bold"/>
                <a:sym typeface="DM Sans Bold"/>
              </a:rPr>
              <a:t>phát</a:t>
            </a:r>
            <a:r>
              <a:rPr lang="en-US" sz="5950" b="1" dirty="0">
                <a:solidFill>
                  <a:srgbClr val="134074"/>
                </a:solidFill>
                <a:latin typeface="DM Sans Bold"/>
                <a:ea typeface="DM Sans Bold"/>
                <a:cs typeface="DM Sans Bold"/>
                <a:sym typeface="DM Sans Bold"/>
              </a:rPr>
              <a:t> </a:t>
            </a:r>
            <a:r>
              <a:rPr lang="en-US" sz="5950" b="1" dirty="0" err="1">
                <a:solidFill>
                  <a:srgbClr val="134074"/>
                </a:solidFill>
                <a:latin typeface="DM Sans Bold"/>
                <a:ea typeface="DM Sans Bold"/>
                <a:cs typeface="DM Sans Bold"/>
                <a:sym typeface="DM Sans Bold"/>
              </a:rPr>
              <a:t>triển</a:t>
            </a:r>
            <a:endParaRPr lang="en-US" sz="5950" b="1" dirty="0">
              <a:solidFill>
                <a:srgbClr val="134074"/>
              </a:solidFill>
              <a:latin typeface="DM Sans Bold"/>
              <a:ea typeface="DM Sans Bold"/>
              <a:cs typeface="DM Sans Bold"/>
              <a:sym typeface="DM Sans Bold"/>
            </a:endParaRPr>
          </a:p>
        </p:txBody>
      </p:sp>
      <p:sp>
        <p:nvSpPr>
          <p:cNvPr id="8" name="TextBox 8">
            <a:extLst>
              <a:ext uri="{FF2B5EF4-FFF2-40B4-BE49-F238E27FC236}">
                <a16:creationId xmlns:a16="http://schemas.microsoft.com/office/drawing/2014/main" id="{60F9A7F3-36F3-F756-2E75-5A4924959144}"/>
              </a:ext>
            </a:extLst>
          </p:cNvPr>
          <p:cNvSpPr txBox="1"/>
          <p:nvPr/>
        </p:nvSpPr>
        <p:spPr>
          <a:xfrm>
            <a:off x="1314450" y="3003809"/>
            <a:ext cx="14535150" cy="2207207"/>
          </a:xfrm>
          <a:prstGeom prst="rect">
            <a:avLst/>
          </a:prstGeom>
        </p:spPr>
        <p:txBody>
          <a:bodyPr wrap="square" lIns="0" tIns="0" rIns="0" bIns="0" rtlCol="0" anchor="t">
            <a:spAutoFit/>
          </a:bodyPr>
          <a:lstStyle/>
          <a:p>
            <a:pPr algn="ctr">
              <a:lnSpc>
                <a:spcPts val="4427"/>
              </a:lnSpc>
            </a:pPr>
            <a:r>
              <a:rPr lang="vi-VN" sz="2800" dirty="0">
                <a:solidFill>
                  <a:schemeClr val="tx2">
                    <a:lumMod val="75000"/>
                  </a:schemeClr>
                </a:solidFill>
              </a:rPr>
              <a:t>Trong tương lai, hệ thống có thể được mở rộng bằng cách bổ sung phân quyền chi tiết hơn, nâng cao bảo mật với các cơ chế xác thực nâng cao, tối ưu hiệu năng và khả năng mở rộng. Ngoài ra, có thể tích hợp thêm frontend hoàn chỉnh, áp dụng kiểm thử tự động, versioning API và triển khai hệ thống trên môi trường thực tế để tăng tính ứng dụng.</a:t>
            </a:r>
            <a:endParaRPr lang="en-US" sz="2544" spc="86" dirty="0">
              <a:solidFill>
                <a:schemeClr val="tx2">
                  <a:lumMod val="75000"/>
                </a:schemeClr>
              </a:solidFill>
              <a:latin typeface="Libre Baskerville"/>
              <a:ea typeface="Libre Baskerville"/>
              <a:cs typeface="Libre Baskerville"/>
              <a:sym typeface="Libre Baskerville"/>
            </a:endParaRPr>
          </a:p>
        </p:txBody>
      </p:sp>
      <p:sp>
        <p:nvSpPr>
          <p:cNvPr id="9" name="TextBox 9">
            <a:extLst>
              <a:ext uri="{FF2B5EF4-FFF2-40B4-BE49-F238E27FC236}">
                <a16:creationId xmlns:a16="http://schemas.microsoft.com/office/drawing/2014/main" id="{653B8BD7-CE54-F00D-9714-C6E43BF4900D}"/>
              </a:ext>
            </a:extLst>
          </p:cNvPr>
          <p:cNvSpPr txBox="1"/>
          <p:nvPr/>
        </p:nvSpPr>
        <p:spPr>
          <a:xfrm>
            <a:off x="8136317" y="9201150"/>
            <a:ext cx="1007683" cy="477695"/>
          </a:xfrm>
          <a:prstGeom prst="rect">
            <a:avLst/>
          </a:prstGeom>
        </p:spPr>
        <p:txBody>
          <a:bodyPr wrap="square" lIns="0" tIns="0" rIns="0" bIns="0" rtlCol="0" anchor="t">
            <a:spAutoFit/>
          </a:bodyPr>
          <a:lstStyle/>
          <a:p>
            <a:pPr algn="ctr">
              <a:lnSpc>
                <a:spcPts val="3920"/>
              </a:lnSpc>
              <a:spcBef>
                <a:spcPct val="0"/>
              </a:spcBef>
            </a:pPr>
            <a:r>
              <a:rPr lang="en-US" sz="2800" dirty="0">
                <a:solidFill>
                  <a:srgbClr val="134074"/>
                </a:solidFill>
                <a:latin typeface="DM Sans"/>
                <a:ea typeface="DM Sans"/>
                <a:cs typeface="DM Sans"/>
                <a:sym typeface="DM Sans"/>
              </a:rPr>
              <a:t>12/20</a:t>
            </a:r>
          </a:p>
        </p:txBody>
      </p:sp>
    </p:spTree>
    <p:extLst>
      <p:ext uri="{BB962C8B-B14F-4D97-AF65-F5344CB8AC3E}">
        <p14:creationId xmlns:p14="http://schemas.microsoft.com/office/powerpoint/2010/main" val="292524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C1F629B1-82C0-BB29-0C52-7AC182E3D6E6}"/>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B87F592C-8E31-C9D4-9E87-8BEACCC737B4}"/>
              </a:ext>
            </a:extLst>
          </p:cNvPr>
          <p:cNvSpPr txBox="1"/>
          <p:nvPr/>
        </p:nvSpPr>
        <p:spPr>
          <a:xfrm>
            <a:off x="8136317" y="9201150"/>
            <a:ext cx="1007683" cy="477695"/>
          </a:xfrm>
          <a:prstGeom prst="rect">
            <a:avLst/>
          </a:prstGeom>
        </p:spPr>
        <p:txBody>
          <a:bodyPr wrap="square" lIns="0" tIns="0" rIns="0" bIns="0" rtlCol="0" anchor="t">
            <a:spAutoFit/>
          </a:bodyPr>
          <a:lstStyle/>
          <a:p>
            <a:pPr algn="ctr">
              <a:lnSpc>
                <a:spcPts val="3920"/>
              </a:lnSpc>
              <a:spcBef>
                <a:spcPct val="0"/>
              </a:spcBef>
            </a:pPr>
            <a:r>
              <a:rPr lang="en-US" sz="2800" dirty="0">
                <a:solidFill>
                  <a:srgbClr val="134074"/>
                </a:solidFill>
                <a:latin typeface="DM Sans"/>
                <a:ea typeface="DM Sans"/>
                <a:cs typeface="DM Sans"/>
                <a:sym typeface="DM Sans"/>
              </a:rPr>
              <a:t>12/20</a:t>
            </a:r>
          </a:p>
        </p:txBody>
      </p:sp>
      <p:sp>
        <p:nvSpPr>
          <p:cNvPr id="13" name="TextBox 12">
            <a:extLst>
              <a:ext uri="{FF2B5EF4-FFF2-40B4-BE49-F238E27FC236}">
                <a16:creationId xmlns:a16="http://schemas.microsoft.com/office/drawing/2014/main" id="{17124704-BE19-663D-7FFC-C754FE5DF9C8}"/>
              </a:ext>
            </a:extLst>
          </p:cNvPr>
          <p:cNvSpPr txBox="1"/>
          <p:nvPr/>
        </p:nvSpPr>
        <p:spPr>
          <a:xfrm>
            <a:off x="2895600" y="3314700"/>
            <a:ext cx="11963400" cy="2308324"/>
          </a:xfrm>
          <a:prstGeom prst="rect">
            <a:avLst/>
          </a:prstGeom>
          <a:noFill/>
        </p:spPr>
        <p:txBody>
          <a:bodyPr wrap="square">
            <a:spAutoFit/>
          </a:bodyPr>
          <a:lstStyle/>
          <a:p>
            <a:pPr algn="ctr"/>
            <a:r>
              <a:rPr lang="en-US" sz="7200" b="1" dirty="0">
                <a:solidFill>
                  <a:schemeClr val="bg1"/>
                </a:solidFill>
                <a:latin typeface="DM Sans Bold"/>
                <a:sym typeface="DM Sans Bold"/>
              </a:rPr>
              <a:t> CẢM ƠN </a:t>
            </a:r>
            <a:br>
              <a:rPr lang="en-US" sz="7200" b="1" dirty="0">
                <a:solidFill>
                  <a:schemeClr val="bg1"/>
                </a:solidFill>
                <a:latin typeface="DM Sans Bold"/>
                <a:sym typeface="DM Sans Bold"/>
              </a:rPr>
            </a:br>
            <a:r>
              <a:rPr lang="en-US" sz="7200" b="1" dirty="0">
                <a:solidFill>
                  <a:schemeClr val="bg1"/>
                </a:solidFill>
                <a:latin typeface="DM Sans Bold"/>
                <a:sym typeface="DM Sans Bold"/>
              </a:rPr>
              <a:t>THẦY CÔ ĐÃ LẮNG NGHE</a:t>
            </a:r>
            <a:endParaRPr lang="en-US" sz="7200" dirty="0">
              <a:solidFill>
                <a:schemeClr val="bg1"/>
              </a:solidFill>
            </a:endParaRPr>
          </a:p>
        </p:txBody>
      </p:sp>
      <p:grpSp>
        <p:nvGrpSpPr>
          <p:cNvPr id="14" name="Group 3">
            <a:extLst>
              <a:ext uri="{FF2B5EF4-FFF2-40B4-BE49-F238E27FC236}">
                <a16:creationId xmlns:a16="http://schemas.microsoft.com/office/drawing/2014/main" id="{DFB3A6F8-6478-FAC7-B81A-EDB85F096E8F}"/>
              </a:ext>
            </a:extLst>
          </p:cNvPr>
          <p:cNvGrpSpPr/>
          <p:nvPr/>
        </p:nvGrpSpPr>
        <p:grpSpPr>
          <a:xfrm>
            <a:off x="6676000" y="6286500"/>
            <a:ext cx="5058800" cy="76200"/>
            <a:chOff x="0" y="0"/>
            <a:chExt cx="889657" cy="46835"/>
          </a:xfrm>
          <a:solidFill>
            <a:schemeClr val="tx2">
              <a:lumMod val="40000"/>
              <a:lumOff val="60000"/>
            </a:schemeClr>
          </a:solidFill>
        </p:grpSpPr>
        <p:sp>
          <p:nvSpPr>
            <p:cNvPr id="15" name="Freeform 4">
              <a:extLst>
                <a:ext uri="{FF2B5EF4-FFF2-40B4-BE49-F238E27FC236}">
                  <a16:creationId xmlns:a16="http://schemas.microsoft.com/office/drawing/2014/main" id="{57A95907-85EE-614B-DF71-3830AD6077B7}"/>
                </a:ext>
              </a:extLst>
            </p:cNvPr>
            <p:cNvSpPr/>
            <p:nvPr/>
          </p:nvSpPr>
          <p:spPr>
            <a:xfrm>
              <a:off x="0" y="0"/>
              <a:ext cx="889657" cy="46835"/>
            </a:xfrm>
            <a:custGeom>
              <a:avLst/>
              <a:gdLst/>
              <a:ahLst/>
              <a:cxnLst/>
              <a:rect l="l" t="t" r="r" b="b"/>
              <a:pathLst>
                <a:path w="889657" h="46835">
                  <a:moveTo>
                    <a:pt x="0" y="0"/>
                  </a:moveTo>
                  <a:lnTo>
                    <a:pt x="889657" y="0"/>
                  </a:lnTo>
                  <a:lnTo>
                    <a:pt x="889657" y="46835"/>
                  </a:lnTo>
                  <a:lnTo>
                    <a:pt x="0" y="46835"/>
                  </a:lnTo>
                  <a:close/>
                </a:path>
              </a:pathLst>
            </a:custGeom>
            <a:grpFill/>
          </p:spPr>
          <p:txBody>
            <a:bodyPr/>
            <a:lstStyle/>
            <a:p>
              <a:endParaRPr lang="en-US"/>
            </a:p>
          </p:txBody>
        </p:sp>
        <p:sp>
          <p:nvSpPr>
            <p:cNvPr id="16" name="TextBox 5">
              <a:extLst>
                <a:ext uri="{FF2B5EF4-FFF2-40B4-BE49-F238E27FC236}">
                  <a16:creationId xmlns:a16="http://schemas.microsoft.com/office/drawing/2014/main" id="{56802012-8235-4102-391A-82E817F8B094}"/>
                </a:ext>
              </a:extLst>
            </p:cNvPr>
            <p:cNvSpPr txBox="1"/>
            <p:nvPr/>
          </p:nvSpPr>
          <p:spPr>
            <a:xfrm>
              <a:off x="0" y="-38100"/>
              <a:ext cx="889657" cy="84935"/>
            </a:xfrm>
            <a:prstGeom prst="rect">
              <a:avLst/>
            </a:prstGeom>
            <a:grpFill/>
          </p:spPr>
          <p:txBody>
            <a:bodyPr lIns="50800" tIns="50800" rIns="50800" bIns="50800" rtlCol="0" anchor="ctr"/>
            <a:lstStyle/>
            <a:p>
              <a:pPr algn="ctr">
                <a:lnSpc>
                  <a:spcPts val="2659"/>
                </a:lnSpc>
              </a:pPr>
              <a:endParaRPr/>
            </a:p>
          </p:txBody>
        </p:sp>
      </p:grpSp>
    </p:spTree>
    <p:extLst>
      <p:ext uri="{BB962C8B-B14F-4D97-AF65-F5344CB8AC3E}">
        <p14:creationId xmlns:p14="http://schemas.microsoft.com/office/powerpoint/2010/main" val="9606876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3039</TotalTime>
  <Words>1296</Words>
  <Application>Microsoft Office PowerPoint</Application>
  <PresentationFormat>Custom</PresentationFormat>
  <Paragraphs>94</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Libre Baskerville</vt:lpstr>
      <vt:lpstr>Libre Baskerville Italics</vt:lpstr>
      <vt:lpstr>Libre Baskerville Bold</vt:lpstr>
      <vt:lpstr>DM Sans Bold</vt:lpstr>
      <vt:lpstr>DM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Tìm hiểu về API và RESTful Architecture</dc:title>
  <dc:creator>LENOVO</dc:creator>
  <cp:lastModifiedBy>Son Ngoc Tan</cp:lastModifiedBy>
  <cp:revision>3</cp:revision>
  <dcterms:created xsi:type="dcterms:W3CDTF">2006-08-16T00:00:00Z</dcterms:created>
  <dcterms:modified xsi:type="dcterms:W3CDTF">2025-12-28T10:23:50Z</dcterms:modified>
  <dc:identifier>DAG8fz73mno</dc:identifier>
</cp:coreProperties>
</file>